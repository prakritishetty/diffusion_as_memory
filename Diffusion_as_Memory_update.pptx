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77" r:id="rId4"/>
    <p:sldId id="278" r:id="rId5"/>
    <p:sldId id="260" r:id="rId6"/>
    <p:sldId id="261" r:id="rId7"/>
    <p:sldId id="262" r:id="rId8"/>
    <p:sldId id="265" r:id="rId9"/>
    <p:sldId id="266" r:id="rId10"/>
    <p:sldId id="267" r:id="rId11"/>
    <p:sldId id="268" r:id="rId12"/>
    <p:sldId id="269" r:id="rId13"/>
    <p:sldId id="270" r:id="rId14"/>
    <p:sldId id="271" r:id="rId15"/>
    <p:sldId id="272" r:id="rId16"/>
    <p:sldId id="273" r:id="rId17"/>
    <p:sldId id="274" r:id="rId18"/>
    <p:sldId id="275" r:id="rId19"/>
    <p:sldId id="276"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6" d="100"/>
          <a:sy n="106" d="100"/>
        </p:scale>
        <p:origin x="96" y="1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37744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685800"/>
            <a:ext cx="10515600" cy="739433"/>
          </a:xfrm>
          <a:prstGeom prst="rect">
            <a:avLst/>
          </a:prstGeom>
          <a:noFill/>
        </p:spPr>
        <p:txBody>
          <a:bodyPr wrap="square">
            <a:spAutoFit/>
          </a:bodyPr>
          <a:lstStyle/>
          <a:p>
            <a:pPr algn="l">
              <a:lnSpc>
                <a:spcPct val="115000"/>
              </a:lnSpc>
              <a:spcAft>
                <a:spcPts val="600"/>
              </a:spcAft>
            </a:pPr>
            <a:r>
              <a:rPr sz="4000" b="1" dirty="0">
                <a:solidFill>
                  <a:srgbClr val="1A1D24"/>
                </a:solidFill>
                <a:latin typeface="Segoe UI"/>
              </a:rPr>
              <a:t>Diffusion as Memory</a:t>
            </a:r>
          </a:p>
        </p:txBody>
      </p:sp>
      <p:sp>
        <p:nvSpPr>
          <p:cNvPr id="4" name="Rectangle 3"/>
          <p:cNvSpPr/>
          <p:nvPr/>
        </p:nvSpPr>
        <p:spPr>
          <a:xfrm>
            <a:off x="822960" y="1691640"/>
            <a:ext cx="2011680" cy="38100"/>
          </a:xfrm>
          <a:prstGeom prst="rect">
            <a:avLst/>
          </a:prstGeom>
          <a:solidFill>
            <a:srgbClr val="1F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874519"/>
            <a:ext cx="10515600" cy="399725"/>
          </a:xfrm>
          <a:prstGeom prst="rect">
            <a:avLst/>
          </a:prstGeom>
          <a:noFill/>
        </p:spPr>
        <p:txBody>
          <a:bodyPr wrap="square">
            <a:spAutoFit/>
          </a:bodyPr>
          <a:lstStyle/>
          <a:p>
            <a:pPr algn="l">
              <a:lnSpc>
                <a:spcPct val="115000"/>
              </a:lnSpc>
              <a:spcAft>
                <a:spcPts val="600"/>
              </a:spcAft>
            </a:pPr>
            <a:r>
              <a:rPr sz="1900" b="0" dirty="0">
                <a:solidFill>
                  <a:srgbClr val="5F6B7A"/>
                </a:solidFill>
                <a:latin typeface="Segoe UI"/>
              </a:rPr>
              <a:t>Rebuild of the pipeline</a:t>
            </a:r>
          </a:p>
        </p:txBody>
      </p:sp>
      <p:sp>
        <p:nvSpPr>
          <p:cNvPr id="6" name="TextBox 5"/>
          <p:cNvSpPr txBox="1"/>
          <p:nvPr/>
        </p:nvSpPr>
        <p:spPr>
          <a:xfrm>
            <a:off x="822960" y="2926080"/>
            <a:ext cx="10515600" cy="2130135"/>
          </a:xfrm>
          <a:prstGeom prst="rect">
            <a:avLst/>
          </a:prstGeom>
          <a:noFill/>
        </p:spPr>
        <p:txBody>
          <a:bodyPr wrap="square">
            <a:spAutoFit/>
          </a:bodyPr>
          <a:lstStyle/>
          <a:p>
            <a:pPr algn="l">
              <a:lnSpc>
                <a:spcPct val="115000"/>
              </a:lnSpc>
              <a:spcAft>
                <a:spcPts val="1200"/>
              </a:spcAft>
            </a:pPr>
            <a:r>
              <a:rPr sz="1800" b="0" dirty="0">
                <a:solidFill>
                  <a:srgbClr val="1A1D24"/>
                </a:solidFill>
                <a:latin typeface="Segoe UI"/>
              </a:rPr>
              <a:t>The idea in one line: store a memory once, then read it back at any level of detail — and stop as soon as you have enough.</a:t>
            </a:r>
          </a:p>
          <a:p>
            <a:pPr algn="l">
              <a:lnSpc>
                <a:spcPct val="115000"/>
              </a:lnSpc>
              <a:spcAft>
                <a:spcPts val="1200"/>
              </a:spcAft>
            </a:pPr>
            <a:r>
              <a:rPr lang="en-US" sz="1800" b="0" dirty="0">
                <a:solidFill>
                  <a:srgbClr val="1A1D24"/>
                </a:solidFill>
                <a:latin typeface="Segoe UI"/>
              </a:rPr>
              <a:t>Motivation framing change – </a:t>
            </a:r>
            <a:br>
              <a:rPr lang="en-US" sz="1800" b="0" dirty="0">
                <a:solidFill>
                  <a:srgbClr val="1A1D24"/>
                </a:solidFill>
                <a:latin typeface="Segoe UI"/>
              </a:rPr>
            </a:br>
            <a:r>
              <a:rPr lang="en-US" sz="1800" b="1" dirty="0">
                <a:solidFill>
                  <a:srgbClr val="1A1D24"/>
                </a:solidFill>
                <a:latin typeface="Segoe UI"/>
              </a:rPr>
              <a:t>Earlier</a:t>
            </a:r>
            <a:r>
              <a:rPr lang="en-US" sz="1800" b="0" dirty="0">
                <a:solidFill>
                  <a:srgbClr val="1A1D24"/>
                </a:solidFill>
                <a:latin typeface="Segoe UI"/>
              </a:rPr>
              <a:t>: early exit + storage efficiency</a:t>
            </a:r>
            <a:br>
              <a:rPr lang="en-US" sz="1800" b="0" dirty="0">
                <a:solidFill>
                  <a:srgbClr val="1A1D24"/>
                </a:solidFill>
                <a:latin typeface="Segoe UI"/>
              </a:rPr>
            </a:br>
            <a:r>
              <a:rPr lang="en-US" sz="1800" b="1" dirty="0">
                <a:solidFill>
                  <a:srgbClr val="1A1D24"/>
                </a:solidFill>
                <a:latin typeface="Segoe UI"/>
              </a:rPr>
              <a:t>Now: </a:t>
            </a:r>
            <a:r>
              <a:rPr lang="en-US" sz="1800" b="0" dirty="0">
                <a:solidFill>
                  <a:srgbClr val="1A1D24"/>
                </a:solidFill>
                <a:latin typeface="Segoe UI"/>
              </a:rPr>
              <a:t>early exit (framed as test time tokens) + nesting (subset). Summarization can’t guarantee the latter and RAG can’t achieve the first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2194560"/>
            <a:ext cx="12191695" cy="18288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423160"/>
            <a:ext cx="10515600" cy="365760"/>
          </a:xfrm>
          <a:prstGeom prst="rect">
            <a:avLst/>
          </a:prstGeom>
          <a:noFill/>
        </p:spPr>
        <p:txBody>
          <a:bodyPr wrap="square">
            <a:spAutoFit/>
          </a:bodyPr>
          <a:lstStyle/>
          <a:p>
            <a:pPr algn="l">
              <a:lnSpc>
                <a:spcPct val="115000"/>
              </a:lnSpc>
              <a:spcAft>
                <a:spcPts val="600"/>
              </a:spcAft>
            </a:pPr>
            <a:r>
              <a:rPr sz="1500" b="1">
                <a:solidFill>
                  <a:srgbClr val="1F6FD4"/>
                </a:solidFill>
                <a:latin typeface="Segoe UI"/>
              </a:rPr>
              <a:t>PART 1</a:t>
            </a:r>
          </a:p>
        </p:txBody>
      </p:sp>
      <p:sp>
        <p:nvSpPr>
          <p:cNvPr id="4" name="TextBox 3"/>
          <p:cNvSpPr txBox="1"/>
          <p:nvPr/>
        </p:nvSpPr>
        <p:spPr>
          <a:xfrm>
            <a:off x="822960" y="2788920"/>
            <a:ext cx="10515600" cy="642355"/>
          </a:xfrm>
          <a:prstGeom prst="rect">
            <a:avLst/>
          </a:prstGeom>
          <a:noFill/>
        </p:spPr>
        <p:txBody>
          <a:bodyPr wrap="square">
            <a:spAutoFit/>
          </a:bodyPr>
          <a:lstStyle/>
          <a:p>
            <a:pPr algn="l">
              <a:lnSpc>
                <a:spcPct val="115000"/>
              </a:lnSpc>
              <a:spcAft>
                <a:spcPts val="600"/>
              </a:spcAft>
            </a:pPr>
            <a:r>
              <a:rPr lang="en-US" sz="3400" b="1" dirty="0">
                <a:solidFill>
                  <a:srgbClr val="1A1D24"/>
                </a:solidFill>
                <a:latin typeface="Segoe UI"/>
              </a:rPr>
              <a:t>Changes</a:t>
            </a:r>
            <a:endParaRPr sz="3400" b="1" dirty="0">
              <a:solidFill>
                <a:srgbClr val="1A1D24"/>
              </a:solidFill>
              <a:latin typeface="Segoe U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04C7CF9-FFA2-E57B-E695-E332EA69F29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0DAAB92-AE87-95EC-4902-5D0391A37858}"/>
              </a:ext>
            </a:extLst>
          </p:cNvPr>
          <p:cNvSpPr txBox="1"/>
          <p:nvPr/>
        </p:nvSpPr>
        <p:spPr>
          <a:xfrm>
            <a:off x="640080" y="411480"/>
            <a:ext cx="10881360" cy="545277"/>
          </a:xfrm>
          <a:prstGeom prst="rect">
            <a:avLst/>
          </a:prstGeom>
          <a:noFill/>
        </p:spPr>
        <p:txBody>
          <a:bodyPr wrap="square">
            <a:spAutoFit/>
          </a:bodyPr>
          <a:lstStyle/>
          <a:p>
            <a:pPr algn="l">
              <a:lnSpc>
                <a:spcPct val="115000"/>
              </a:lnSpc>
              <a:spcAft>
                <a:spcPts val="600"/>
              </a:spcAft>
            </a:pPr>
            <a:r>
              <a:rPr lang="en-US" sz="2800" b="1" dirty="0">
                <a:solidFill>
                  <a:srgbClr val="1A1D24"/>
                </a:solidFill>
                <a:latin typeface="Segoe UI"/>
              </a:rPr>
              <a:t>U and V0</a:t>
            </a:r>
            <a:endParaRPr sz="2800" b="1" dirty="0">
              <a:solidFill>
                <a:srgbClr val="1A1D24"/>
              </a:solidFill>
              <a:latin typeface="Segoe UI"/>
            </a:endParaRPr>
          </a:p>
        </p:txBody>
      </p:sp>
      <p:sp>
        <p:nvSpPr>
          <p:cNvPr id="3" name="Rectangle 2">
            <a:extLst>
              <a:ext uri="{FF2B5EF4-FFF2-40B4-BE49-F238E27FC236}">
                <a16:creationId xmlns:a16="http://schemas.microsoft.com/office/drawing/2014/main" id="{15BD89B9-4D93-6B48-23D2-4ADC5500E664}"/>
              </a:ext>
            </a:extLst>
          </p:cNvPr>
          <p:cNvSpPr/>
          <p:nvPr/>
        </p:nvSpPr>
        <p:spPr>
          <a:xfrm>
            <a:off x="640080" y="1051560"/>
            <a:ext cx="1463040" cy="38100"/>
          </a:xfrm>
          <a:prstGeom prst="rect">
            <a:avLst/>
          </a:prstGeom>
          <a:solidFill>
            <a:srgbClr val="1F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E4174630-69EE-A9A4-39E8-FB6D64A313A7}"/>
              </a:ext>
            </a:extLst>
          </p:cNvPr>
          <p:cNvSpPr txBox="1"/>
          <p:nvPr/>
        </p:nvSpPr>
        <p:spPr>
          <a:xfrm>
            <a:off x="685800" y="1371600"/>
            <a:ext cx="10789920" cy="2807756"/>
          </a:xfrm>
          <a:prstGeom prst="rect">
            <a:avLst/>
          </a:prstGeom>
          <a:noFill/>
        </p:spPr>
        <p:txBody>
          <a:bodyPr wrap="square">
            <a:spAutoFit/>
          </a:bodyPr>
          <a:lstStyle/>
          <a:p>
            <a:pPr algn="l">
              <a:lnSpc>
                <a:spcPct val="115000"/>
              </a:lnSpc>
              <a:spcAft>
                <a:spcPts val="1000"/>
              </a:spcAft>
            </a:pPr>
            <a:r>
              <a:rPr lang="en-US" sz="1800" b="0" dirty="0">
                <a:solidFill>
                  <a:srgbClr val="1A1D24"/>
                </a:solidFill>
                <a:latin typeface="Segoe UI"/>
              </a:rPr>
              <a:t>Earlier:</a:t>
            </a:r>
            <a:endParaRPr lang="en-US" dirty="0">
              <a:solidFill>
                <a:srgbClr val="1A1D24"/>
              </a:solidFill>
              <a:latin typeface="Segoe UI"/>
            </a:endParaRPr>
          </a:p>
          <a:p>
            <a:pPr marL="342900" indent="-342900" algn="l">
              <a:lnSpc>
                <a:spcPct val="115000"/>
              </a:lnSpc>
              <a:spcAft>
                <a:spcPts val="1000"/>
              </a:spcAft>
              <a:buFont typeface="+mj-lt"/>
              <a:buAutoNum type="arabicPeriod"/>
            </a:pPr>
            <a:r>
              <a:rPr lang="en-US" sz="1800" b="0" dirty="0">
                <a:solidFill>
                  <a:srgbClr val="1A1D24"/>
                </a:solidFill>
                <a:latin typeface="Segoe UI"/>
              </a:rPr>
              <a:t>No supervision on u</a:t>
            </a:r>
          </a:p>
          <a:p>
            <a:pPr marL="342900" indent="-342900" algn="l">
              <a:lnSpc>
                <a:spcPct val="115000"/>
              </a:lnSpc>
              <a:spcAft>
                <a:spcPts val="1000"/>
              </a:spcAft>
              <a:buFont typeface="+mj-lt"/>
              <a:buAutoNum type="arabicPeriod"/>
            </a:pPr>
            <a:r>
              <a:rPr lang="en-US" sz="1800" b="0" dirty="0">
                <a:solidFill>
                  <a:srgbClr val="1A1D24"/>
                </a:solidFill>
                <a:latin typeface="Segoe UI"/>
              </a:rPr>
              <a:t>Losses added – decode u to y, align projection of u with embed of y and orthogonal loss between u and v0</a:t>
            </a:r>
          </a:p>
          <a:p>
            <a:pPr marL="342900" indent="-342900" algn="l">
              <a:lnSpc>
                <a:spcPct val="115000"/>
              </a:lnSpc>
              <a:spcAft>
                <a:spcPts val="1000"/>
              </a:spcAft>
              <a:buFont typeface="+mj-lt"/>
              <a:buAutoNum type="arabicPeriod"/>
            </a:pPr>
            <a:r>
              <a:rPr lang="en-US" dirty="0">
                <a:solidFill>
                  <a:srgbClr val="1A1D24"/>
                </a:solidFill>
                <a:latin typeface="Segoe UI"/>
              </a:rPr>
              <a:t>Heads – linear functions over same pooled h =&gt; u head: attention pooling, MLP, norm. V head: </a:t>
            </a:r>
            <a:r>
              <a:rPr lang="en-US" dirty="0" err="1">
                <a:solidFill>
                  <a:srgbClr val="1A1D24"/>
                </a:solidFill>
                <a:latin typeface="Segoe UI"/>
              </a:rPr>
              <a:t>transf</a:t>
            </a:r>
            <a:r>
              <a:rPr lang="en-US" dirty="0">
                <a:solidFill>
                  <a:srgbClr val="1A1D24"/>
                </a:solidFill>
                <a:latin typeface="Segoe UI"/>
              </a:rPr>
              <a:t>, </a:t>
            </a:r>
            <a:r>
              <a:rPr lang="en-US" dirty="0" err="1">
                <a:solidFill>
                  <a:srgbClr val="1A1D24"/>
                </a:solidFill>
                <a:latin typeface="Segoe UI"/>
              </a:rPr>
              <a:t>lin</a:t>
            </a:r>
            <a:r>
              <a:rPr lang="en-US" dirty="0">
                <a:solidFill>
                  <a:srgbClr val="1A1D24"/>
                </a:solidFill>
                <a:latin typeface="Segoe UI"/>
              </a:rPr>
              <a:t> ear, norm (unit var)</a:t>
            </a:r>
            <a:endParaRPr lang="en-US" sz="1800" b="0" dirty="0">
              <a:solidFill>
                <a:srgbClr val="1A1D24"/>
              </a:solidFill>
              <a:latin typeface="Segoe UI"/>
            </a:endParaRPr>
          </a:p>
          <a:p>
            <a:pPr algn="l">
              <a:lnSpc>
                <a:spcPct val="115000"/>
              </a:lnSpc>
              <a:spcAft>
                <a:spcPts val="1000"/>
              </a:spcAft>
            </a:pPr>
            <a:endParaRPr lang="en-US" sz="1800" b="0" dirty="0">
              <a:solidFill>
                <a:srgbClr val="1A1D24"/>
              </a:solidFill>
              <a:latin typeface="Segoe UI"/>
            </a:endParaRPr>
          </a:p>
        </p:txBody>
      </p:sp>
    </p:spTree>
    <p:extLst>
      <p:ext uri="{BB962C8B-B14F-4D97-AF65-F5344CB8AC3E}">
        <p14:creationId xmlns:p14="http://schemas.microsoft.com/office/powerpoint/2010/main" val="41889779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D564A-08F8-80AA-34D3-FC1EE17B949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5D95C75-3790-F358-3DE5-061AEFEF0079}"/>
              </a:ext>
            </a:extLst>
          </p:cNvPr>
          <p:cNvSpPr txBox="1"/>
          <p:nvPr/>
        </p:nvSpPr>
        <p:spPr>
          <a:xfrm>
            <a:off x="640080" y="411480"/>
            <a:ext cx="10881360" cy="545277"/>
          </a:xfrm>
          <a:prstGeom prst="rect">
            <a:avLst/>
          </a:prstGeom>
          <a:noFill/>
        </p:spPr>
        <p:txBody>
          <a:bodyPr wrap="square">
            <a:spAutoFit/>
          </a:bodyPr>
          <a:lstStyle/>
          <a:p>
            <a:pPr algn="l">
              <a:lnSpc>
                <a:spcPct val="115000"/>
              </a:lnSpc>
              <a:spcAft>
                <a:spcPts val="600"/>
              </a:spcAft>
            </a:pPr>
            <a:r>
              <a:rPr lang="en-US" sz="2800" b="1" dirty="0">
                <a:solidFill>
                  <a:srgbClr val="1A1D24"/>
                </a:solidFill>
                <a:latin typeface="Segoe UI"/>
              </a:rPr>
              <a:t>Text Encoders</a:t>
            </a:r>
            <a:endParaRPr sz="2800" b="1" dirty="0">
              <a:solidFill>
                <a:srgbClr val="1A1D24"/>
              </a:solidFill>
              <a:latin typeface="Segoe UI"/>
            </a:endParaRPr>
          </a:p>
        </p:txBody>
      </p:sp>
      <p:sp>
        <p:nvSpPr>
          <p:cNvPr id="3" name="Rectangle 2">
            <a:extLst>
              <a:ext uri="{FF2B5EF4-FFF2-40B4-BE49-F238E27FC236}">
                <a16:creationId xmlns:a16="http://schemas.microsoft.com/office/drawing/2014/main" id="{9FAA98AE-B69B-EC6C-AA64-FCB2ADE31D47}"/>
              </a:ext>
            </a:extLst>
          </p:cNvPr>
          <p:cNvSpPr/>
          <p:nvPr/>
        </p:nvSpPr>
        <p:spPr>
          <a:xfrm>
            <a:off x="640080" y="1051560"/>
            <a:ext cx="1463040" cy="38100"/>
          </a:xfrm>
          <a:prstGeom prst="rect">
            <a:avLst/>
          </a:prstGeom>
          <a:solidFill>
            <a:srgbClr val="1F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0877271A-A5F7-176D-9E61-7C6EAC86F263}"/>
              </a:ext>
            </a:extLst>
          </p:cNvPr>
          <p:cNvSpPr txBox="1"/>
          <p:nvPr/>
        </p:nvSpPr>
        <p:spPr>
          <a:xfrm>
            <a:off x="685800" y="1371600"/>
            <a:ext cx="10789920" cy="383503"/>
          </a:xfrm>
          <a:prstGeom prst="rect">
            <a:avLst/>
          </a:prstGeom>
          <a:noFill/>
        </p:spPr>
        <p:txBody>
          <a:bodyPr wrap="square">
            <a:spAutoFit/>
          </a:bodyPr>
          <a:lstStyle/>
          <a:p>
            <a:pPr marL="342900" indent="-342900" algn="l">
              <a:lnSpc>
                <a:spcPct val="115000"/>
              </a:lnSpc>
              <a:spcAft>
                <a:spcPts val="1000"/>
              </a:spcAft>
              <a:buFont typeface="+mj-lt"/>
              <a:buAutoNum type="arabicPeriod"/>
            </a:pPr>
            <a:r>
              <a:rPr lang="en-US" dirty="0">
                <a:solidFill>
                  <a:srgbClr val="1A1D24"/>
                </a:solidFill>
                <a:latin typeface="Segoe UI"/>
              </a:rPr>
              <a:t>2 text encoders for u and v0 separately </a:t>
            </a:r>
            <a:endParaRPr lang="en-US" sz="1800" b="0" dirty="0">
              <a:solidFill>
                <a:srgbClr val="1A1D24"/>
              </a:solidFill>
              <a:latin typeface="Segoe UI"/>
            </a:endParaRPr>
          </a:p>
        </p:txBody>
      </p:sp>
    </p:spTree>
    <p:extLst>
      <p:ext uri="{BB962C8B-B14F-4D97-AF65-F5344CB8AC3E}">
        <p14:creationId xmlns:p14="http://schemas.microsoft.com/office/powerpoint/2010/main" val="29765656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881360" cy="545277"/>
          </a:xfrm>
          <a:prstGeom prst="rect">
            <a:avLst/>
          </a:prstGeom>
          <a:noFill/>
        </p:spPr>
        <p:txBody>
          <a:bodyPr wrap="square">
            <a:spAutoFit/>
          </a:bodyPr>
          <a:lstStyle/>
          <a:p>
            <a:pPr algn="l">
              <a:lnSpc>
                <a:spcPct val="115000"/>
              </a:lnSpc>
              <a:spcAft>
                <a:spcPts val="600"/>
              </a:spcAft>
            </a:pPr>
            <a:r>
              <a:rPr lang="en-US" sz="2800" b="1" dirty="0">
                <a:solidFill>
                  <a:srgbClr val="1A1D24"/>
                </a:solidFill>
                <a:latin typeface="Segoe UI"/>
              </a:rPr>
              <a:t>Dataset</a:t>
            </a:r>
            <a:endParaRPr sz="2800" b="1" dirty="0">
              <a:solidFill>
                <a:srgbClr val="1A1D24"/>
              </a:solidFill>
              <a:latin typeface="Segoe UI"/>
            </a:endParaRPr>
          </a:p>
        </p:txBody>
      </p:sp>
      <p:sp>
        <p:nvSpPr>
          <p:cNvPr id="3" name="Rectangle 2"/>
          <p:cNvSpPr/>
          <p:nvPr/>
        </p:nvSpPr>
        <p:spPr>
          <a:xfrm>
            <a:off x="640080" y="1051560"/>
            <a:ext cx="1463040" cy="38100"/>
          </a:xfrm>
          <a:prstGeom prst="rect">
            <a:avLst/>
          </a:prstGeom>
          <a:solidFill>
            <a:srgbClr val="1F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371600"/>
            <a:ext cx="10789920" cy="1277081"/>
          </a:xfrm>
          <a:prstGeom prst="rect">
            <a:avLst/>
          </a:prstGeom>
          <a:noFill/>
        </p:spPr>
        <p:txBody>
          <a:bodyPr wrap="square">
            <a:spAutoFit/>
          </a:bodyPr>
          <a:lstStyle/>
          <a:p>
            <a:pPr algn="l">
              <a:lnSpc>
                <a:spcPct val="115000"/>
              </a:lnSpc>
              <a:spcAft>
                <a:spcPts val="1000"/>
              </a:spcAft>
            </a:pPr>
            <a:r>
              <a:rPr lang="en-US" sz="1800" b="0" dirty="0">
                <a:solidFill>
                  <a:srgbClr val="1A1D24"/>
                </a:solidFill>
                <a:latin typeface="Segoe UI"/>
              </a:rPr>
              <a:t>Earlier:</a:t>
            </a:r>
          </a:p>
          <a:p>
            <a:pPr marL="342900" indent="-342900" algn="l">
              <a:lnSpc>
                <a:spcPct val="115000"/>
              </a:lnSpc>
              <a:spcAft>
                <a:spcPts val="1000"/>
              </a:spcAft>
              <a:buAutoNum type="arabicPeriod"/>
            </a:pPr>
            <a:r>
              <a:rPr lang="en-US" dirty="0">
                <a:solidFill>
                  <a:srgbClr val="1A1D24"/>
                </a:solidFill>
                <a:latin typeface="Segoe UI"/>
              </a:rPr>
              <a:t>Timestep -&gt; </a:t>
            </a:r>
            <a:r>
              <a:rPr lang="en-US" dirty="0" err="1">
                <a:solidFill>
                  <a:srgbClr val="1A1D24"/>
                </a:solidFill>
                <a:latin typeface="Segoe UI"/>
              </a:rPr>
              <a:t>xt</a:t>
            </a:r>
            <a:r>
              <a:rPr lang="en-US" dirty="0">
                <a:solidFill>
                  <a:srgbClr val="1A1D24"/>
                </a:solidFill>
                <a:latin typeface="Segoe UI"/>
              </a:rPr>
              <a:t> mapping assumed 10 rungs but we have only ~5 (mean) + source not included</a:t>
            </a:r>
          </a:p>
          <a:p>
            <a:pPr marL="342900" indent="-342900" algn="l">
              <a:lnSpc>
                <a:spcPct val="115000"/>
              </a:lnSpc>
              <a:spcAft>
                <a:spcPts val="1000"/>
              </a:spcAft>
              <a:buAutoNum type="arabicPeriod"/>
            </a:pPr>
            <a:r>
              <a:rPr lang="en-US" dirty="0">
                <a:solidFill>
                  <a:srgbClr val="1A1D24"/>
                </a:solidFill>
                <a:latin typeface="Segoe UI"/>
              </a:rPr>
              <a:t>X+: u(x) = u(</a:t>
            </a:r>
            <a:r>
              <a:rPr lang="en-US" dirty="0" err="1">
                <a:solidFill>
                  <a:srgbClr val="1A1D24"/>
                </a:solidFill>
                <a:latin typeface="Segoe UI"/>
              </a:rPr>
              <a:t>xt</a:t>
            </a:r>
            <a:r>
              <a:rPr lang="en-US" dirty="0">
                <a:solidFill>
                  <a:srgbClr val="1A1D24"/>
                </a:solidFill>
                <a:latin typeface="Segoe UI"/>
              </a:rPr>
              <a:t>[k] for all 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2194560"/>
            <a:ext cx="12191695" cy="18288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423160"/>
            <a:ext cx="10515600" cy="365760"/>
          </a:xfrm>
          <a:prstGeom prst="rect">
            <a:avLst/>
          </a:prstGeom>
          <a:noFill/>
        </p:spPr>
        <p:txBody>
          <a:bodyPr wrap="square">
            <a:spAutoFit/>
          </a:bodyPr>
          <a:lstStyle/>
          <a:p>
            <a:pPr algn="l">
              <a:lnSpc>
                <a:spcPct val="115000"/>
              </a:lnSpc>
              <a:spcAft>
                <a:spcPts val="600"/>
              </a:spcAft>
            </a:pPr>
            <a:r>
              <a:rPr sz="1500" b="1">
                <a:solidFill>
                  <a:srgbClr val="1F6FD4"/>
                </a:solidFill>
                <a:latin typeface="Segoe UI"/>
              </a:rPr>
              <a:t>PART 2</a:t>
            </a:r>
          </a:p>
        </p:txBody>
      </p:sp>
      <p:sp>
        <p:nvSpPr>
          <p:cNvPr id="4" name="TextBox 3"/>
          <p:cNvSpPr txBox="1"/>
          <p:nvPr/>
        </p:nvSpPr>
        <p:spPr>
          <a:xfrm>
            <a:off x="822960" y="2788920"/>
            <a:ext cx="10515600" cy="642355"/>
          </a:xfrm>
          <a:prstGeom prst="rect">
            <a:avLst/>
          </a:prstGeom>
          <a:noFill/>
        </p:spPr>
        <p:txBody>
          <a:bodyPr wrap="square">
            <a:spAutoFit/>
          </a:bodyPr>
          <a:lstStyle/>
          <a:p>
            <a:pPr algn="l">
              <a:lnSpc>
                <a:spcPct val="115000"/>
              </a:lnSpc>
              <a:spcAft>
                <a:spcPts val="600"/>
              </a:spcAft>
            </a:pPr>
            <a:r>
              <a:rPr lang="en-US" sz="3400" b="1" dirty="0">
                <a:solidFill>
                  <a:srgbClr val="1A1D24"/>
                </a:solidFill>
                <a:latin typeface="Segoe UI"/>
              </a:rPr>
              <a:t>Initial Results for gating</a:t>
            </a:r>
            <a:endParaRPr sz="3400" b="1" dirty="0">
              <a:solidFill>
                <a:srgbClr val="1A1D24"/>
              </a:solidFill>
              <a:latin typeface="Segoe U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881360" cy="545277"/>
          </a:xfrm>
          <a:prstGeom prst="rect">
            <a:avLst/>
          </a:prstGeom>
          <a:noFill/>
        </p:spPr>
        <p:txBody>
          <a:bodyPr wrap="square">
            <a:spAutoFit/>
          </a:bodyPr>
          <a:lstStyle/>
          <a:p>
            <a:pPr algn="l">
              <a:lnSpc>
                <a:spcPct val="115000"/>
              </a:lnSpc>
              <a:spcAft>
                <a:spcPts val="600"/>
              </a:spcAft>
            </a:pPr>
            <a:r>
              <a:rPr lang="en-US" sz="2800" b="1" dirty="0">
                <a:solidFill>
                  <a:srgbClr val="1A1D24"/>
                </a:solidFill>
                <a:latin typeface="Segoe UI"/>
              </a:rPr>
              <a:t>H</a:t>
            </a:r>
            <a:r>
              <a:rPr sz="2800" b="1" dirty="0">
                <a:solidFill>
                  <a:srgbClr val="1A1D24"/>
                </a:solidFill>
                <a:latin typeface="Segoe UI"/>
              </a:rPr>
              <a:t>ow good is our training data, really?</a:t>
            </a:r>
          </a:p>
        </p:txBody>
      </p:sp>
      <p:sp>
        <p:nvSpPr>
          <p:cNvPr id="3" name="Rectangle 2"/>
          <p:cNvSpPr/>
          <p:nvPr/>
        </p:nvSpPr>
        <p:spPr>
          <a:xfrm>
            <a:off x="640080" y="1051560"/>
            <a:ext cx="1463040" cy="38100"/>
          </a:xfrm>
          <a:prstGeom prst="rect">
            <a:avLst/>
          </a:prstGeom>
          <a:solidFill>
            <a:srgbClr val="1F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640080" y="1371600"/>
          <a:ext cx="10881360" cy="1807464"/>
        </p:xfrm>
        <a:graphic>
          <a:graphicData uri="http://schemas.openxmlformats.org/drawingml/2006/table">
            <a:tbl>
              <a:tblPr firstRow="1" bandRow="1">
                <a:tableStyleId>{5C22544A-7EE6-4342-B048-85BDC9FD1C3A}</a:tableStyleId>
              </a:tblPr>
              <a:tblGrid>
                <a:gridCol w="3989832">
                  <a:extLst>
                    <a:ext uri="{9D8B030D-6E8A-4147-A177-3AD203B41FA5}">
                      <a16:colId xmlns:a16="http://schemas.microsoft.com/office/drawing/2014/main" val="20000"/>
                    </a:ext>
                  </a:extLst>
                </a:gridCol>
                <a:gridCol w="1722882">
                  <a:extLst>
                    <a:ext uri="{9D8B030D-6E8A-4147-A177-3AD203B41FA5}">
                      <a16:colId xmlns:a16="http://schemas.microsoft.com/office/drawing/2014/main" val="20001"/>
                    </a:ext>
                  </a:extLst>
                </a:gridCol>
                <a:gridCol w="1722882">
                  <a:extLst>
                    <a:ext uri="{9D8B030D-6E8A-4147-A177-3AD203B41FA5}">
                      <a16:colId xmlns:a16="http://schemas.microsoft.com/office/drawing/2014/main" val="20002"/>
                    </a:ext>
                  </a:extLst>
                </a:gridCol>
                <a:gridCol w="1722882">
                  <a:extLst>
                    <a:ext uri="{9D8B030D-6E8A-4147-A177-3AD203B41FA5}">
                      <a16:colId xmlns:a16="http://schemas.microsoft.com/office/drawing/2014/main" val="20003"/>
                    </a:ext>
                  </a:extLst>
                </a:gridCol>
                <a:gridCol w="1722882">
                  <a:extLst>
                    <a:ext uri="{9D8B030D-6E8A-4147-A177-3AD203B41FA5}">
                      <a16:colId xmlns:a16="http://schemas.microsoft.com/office/drawing/2014/main" val="20004"/>
                    </a:ext>
                  </a:extLst>
                </a:gridCol>
              </a:tblGrid>
              <a:tr h="429768">
                <a:tc>
                  <a:txBody>
                    <a:bodyPr/>
                    <a:lstStyle/>
                    <a:p>
                      <a:pPr algn="l"/>
                      <a:r>
                        <a:rPr sz="1400" b="1">
                          <a:solidFill>
                            <a:srgbClr val="FFFFFF"/>
                          </a:solidFill>
                          <a:latin typeface="Segoe UI"/>
                        </a:rPr>
                        <a:t>Ladder source</a:t>
                      </a:r>
                    </a:p>
                  </a:txBody>
                  <a:tcPr>
                    <a:solidFill>
                      <a:srgbClr val="1A1D24"/>
                    </a:solidFill>
                  </a:tcPr>
                </a:tc>
                <a:tc>
                  <a:txBody>
                    <a:bodyPr/>
                    <a:lstStyle/>
                    <a:p>
                      <a:pPr algn="ctr"/>
                      <a:r>
                        <a:rPr sz="1400" b="1">
                          <a:solidFill>
                            <a:srgbClr val="FFFFFF"/>
                          </a:solidFill>
                          <a:latin typeface="Segoe UI"/>
                        </a:rPr>
                        <a:t>Detail falls</a:t>
                      </a:r>
                    </a:p>
                    <a:p>
                      <a:pPr algn="ctr"/>
                      <a:r>
                        <a:rPr sz="1400" b="1">
                          <a:solidFill>
                            <a:srgbClr val="FFFFFF"/>
                          </a:solidFill>
                          <a:latin typeface="Segoe UI"/>
                        </a:rPr>
                        <a:t>smoothly</a:t>
                      </a:r>
                    </a:p>
                  </a:txBody>
                  <a:tcPr>
                    <a:solidFill>
                      <a:srgbClr val="1A1D24"/>
                    </a:solidFill>
                  </a:tcPr>
                </a:tc>
                <a:tc>
                  <a:txBody>
                    <a:bodyPr/>
                    <a:lstStyle/>
                    <a:p>
                      <a:pPr algn="ctr"/>
                      <a:r>
                        <a:rPr sz="1400" b="1">
                          <a:solidFill>
                            <a:srgbClr val="FFFFFF"/>
                          </a:solidFill>
                          <a:latin typeface="Segoe UI"/>
                        </a:rPr>
                        <a:t>Never adds</a:t>
                      </a:r>
                    </a:p>
                    <a:p>
                      <a:pPr algn="ctr"/>
                      <a:r>
                        <a:rPr sz="1400" b="1">
                          <a:solidFill>
                            <a:srgbClr val="FFFFFF"/>
                          </a:solidFill>
                          <a:latin typeface="Segoe UI"/>
                        </a:rPr>
                        <a:t>anything new</a:t>
                      </a:r>
                    </a:p>
                  </a:txBody>
                  <a:tcPr>
                    <a:solidFill>
                      <a:srgbClr val="1A1D24"/>
                    </a:solidFill>
                  </a:tcPr>
                </a:tc>
                <a:tc>
                  <a:txBody>
                    <a:bodyPr/>
                    <a:lstStyle/>
                    <a:p>
                      <a:pPr algn="ctr"/>
                      <a:r>
                        <a:rPr sz="1400" b="1">
                          <a:solidFill>
                            <a:srgbClr val="FFFFFF"/>
                          </a:solidFill>
                          <a:latin typeface="Segoe UI"/>
                        </a:rPr>
                        <a:t>Makes things</a:t>
                      </a:r>
                    </a:p>
                    <a:p>
                      <a:pPr algn="ctr"/>
                      <a:r>
                        <a:rPr sz="1400" b="1">
                          <a:solidFill>
                            <a:srgbClr val="FFFFFF"/>
                          </a:solidFill>
                          <a:latin typeface="Segoe UI"/>
                        </a:rPr>
                        <a:t>up</a:t>
                      </a:r>
                    </a:p>
                  </a:txBody>
                  <a:tcPr>
                    <a:solidFill>
                      <a:srgbClr val="1A1D24"/>
                    </a:solidFill>
                  </a:tcPr>
                </a:tc>
                <a:tc>
                  <a:txBody>
                    <a:bodyPr/>
                    <a:lstStyle/>
                    <a:p>
                      <a:pPr algn="ctr"/>
                      <a:r>
                        <a:rPr sz="1400" b="1">
                          <a:solidFill>
                            <a:srgbClr val="FFFFFF"/>
                          </a:solidFill>
                          <a:latin typeface="Segoe UI"/>
                        </a:rPr>
                        <a:t>Complete</a:t>
                      </a:r>
                    </a:p>
                    <a:p>
                      <a:pPr algn="ctr"/>
                      <a:r>
                        <a:rPr sz="1400" b="1">
                          <a:solidFill>
                            <a:srgbClr val="FFFFFF"/>
                          </a:solidFill>
                          <a:latin typeface="Segoe UI"/>
                        </a:rPr>
                        <a:t>sentences</a:t>
                      </a:r>
                    </a:p>
                  </a:txBody>
                  <a:tcPr>
                    <a:solidFill>
                      <a:srgbClr val="1A1D24"/>
                    </a:solidFill>
                  </a:tcPr>
                </a:tc>
                <a:extLst>
                  <a:ext uri="{0D108BD9-81ED-4DB2-BD59-A6C34878D82A}">
                    <a16:rowId xmlns:a16="http://schemas.microsoft.com/office/drawing/2014/main" val="10000"/>
                  </a:ext>
                </a:extLst>
              </a:tr>
              <a:tr h="429768">
                <a:tc>
                  <a:txBody>
                    <a:bodyPr/>
                    <a:lstStyle/>
                    <a:p>
                      <a:pPr algn="l"/>
                      <a:r>
                        <a:rPr sz="1400" b="0">
                          <a:solidFill>
                            <a:srgbClr val="1A1D24"/>
                          </a:solidFill>
                          <a:latin typeface="Segoe UI"/>
                        </a:rPr>
                        <a:t>Gold ladders (GPT-written)</a:t>
                      </a:r>
                    </a:p>
                  </a:txBody>
                  <a:tcPr>
                    <a:solidFill>
                      <a:srgbClr val="FFFFFF"/>
                    </a:solidFill>
                  </a:tcPr>
                </a:tc>
                <a:tc>
                  <a:txBody>
                    <a:bodyPr/>
                    <a:lstStyle/>
                    <a:p>
                      <a:pPr algn="ctr"/>
                      <a:r>
                        <a:rPr sz="1400" b="1">
                          <a:solidFill>
                            <a:srgbClr val="1B7F4B"/>
                          </a:solidFill>
                          <a:latin typeface="Segoe UI"/>
                        </a:rPr>
                        <a:t>0.92</a:t>
                      </a:r>
                    </a:p>
                  </a:txBody>
                  <a:tcPr>
                    <a:solidFill>
                      <a:srgbClr val="FFFFFF"/>
                    </a:solidFill>
                  </a:tcPr>
                </a:tc>
                <a:tc>
                  <a:txBody>
                    <a:bodyPr/>
                    <a:lstStyle/>
                    <a:p>
                      <a:pPr algn="ctr"/>
                      <a:r>
                        <a:rPr sz="1400" b="1">
                          <a:solidFill>
                            <a:srgbClr val="B32D2D"/>
                          </a:solidFill>
                          <a:latin typeface="Segoe UI"/>
                        </a:rPr>
                        <a:t>0.05</a:t>
                      </a:r>
                    </a:p>
                  </a:txBody>
                  <a:tcPr>
                    <a:solidFill>
                      <a:srgbClr val="FFFFFF"/>
                    </a:solidFill>
                  </a:tcPr>
                </a:tc>
                <a:tc>
                  <a:txBody>
                    <a:bodyPr/>
                    <a:lstStyle/>
                    <a:p>
                      <a:pPr algn="ctr"/>
                      <a:r>
                        <a:rPr sz="1400" b="0">
                          <a:solidFill>
                            <a:srgbClr val="1A1D24"/>
                          </a:solidFill>
                          <a:latin typeface="Segoe UI"/>
                        </a:rPr>
                        <a:t>0.24</a:t>
                      </a:r>
                    </a:p>
                  </a:txBody>
                  <a:tcPr>
                    <a:solidFill>
                      <a:srgbClr val="FFFFFF"/>
                    </a:solidFill>
                  </a:tcPr>
                </a:tc>
                <a:tc>
                  <a:txBody>
                    <a:bodyPr/>
                    <a:lstStyle/>
                    <a:p>
                      <a:pPr algn="ctr"/>
                      <a:r>
                        <a:rPr sz="1400" b="1">
                          <a:solidFill>
                            <a:srgbClr val="1B7F4B"/>
                          </a:solidFill>
                          <a:latin typeface="Segoe UI"/>
                        </a:rPr>
                        <a:t>0.86</a:t>
                      </a:r>
                    </a:p>
                  </a:txBody>
                  <a:tcPr>
                    <a:solidFill>
                      <a:srgbClr val="FFFFFF"/>
                    </a:solidFill>
                  </a:tcPr>
                </a:tc>
                <a:extLst>
                  <a:ext uri="{0D108BD9-81ED-4DB2-BD59-A6C34878D82A}">
                    <a16:rowId xmlns:a16="http://schemas.microsoft.com/office/drawing/2014/main" val="10001"/>
                  </a:ext>
                </a:extLst>
              </a:tr>
              <a:tr h="429768">
                <a:tc>
                  <a:txBody>
                    <a:bodyPr/>
                    <a:lstStyle/>
                    <a:p>
                      <a:pPr algn="l"/>
                      <a:r>
                        <a:rPr sz="1400" b="0" dirty="0">
                          <a:solidFill>
                            <a:srgbClr val="1A1D24"/>
                          </a:solidFill>
                          <a:latin typeface="Segoe UI"/>
                        </a:rPr>
                        <a:t>Gold ladders (our new rule-based set)</a:t>
                      </a:r>
                    </a:p>
                  </a:txBody>
                  <a:tcPr>
                    <a:solidFill>
                      <a:srgbClr val="F2F5F9"/>
                    </a:solidFill>
                  </a:tcPr>
                </a:tc>
                <a:tc>
                  <a:txBody>
                    <a:bodyPr/>
                    <a:lstStyle/>
                    <a:p>
                      <a:pPr algn="ctr"/>
                      <a:r>
                        <a:rPr sz="1400" b="1">
                          <a:solidFill>
                            <a:srgbClr val="1B7F4B"/>
                          </a:solidFill>
                          <a:latin typeface="Segoe UI"/>
                        </a:rPr>
                        <a:t>1.00</a:t>
                      </a:r>
                    </a:p>
                  </a:txBody>
                  <a:tcPr>
                    <a:solidFill>
                      <a:srgbClr val="F2F5F9"/>
                    </a:solidFill>
                  </a:tcPr>
                </a:tc>
                <a:tc>
                  <a:txBody>
                    <a:bodyPr/>
                    <a:lstStyle/>
                    <a:p>
                      <a:pPr algn="ctr"/>
                      <a:r>
                        <a:rPr sz="1400" b="1">
                          <a:solidFill>
                            <a:srgbClr val="B32D2D"/>
                          </a:solidFill>
                          <a:latin typeface="Segoe UI"/>
                        </a:rPr>
                        <a:t>0.03</a:t>
                      </a:r>
                    </a:p>
                  </a:txBody>
                  <a:tcPr>
                    <a:solidFill>
                      <a:srgbClr val="F2F5F9"/>
                    </a:solidFill>
                  </a:tcPr>
                </a:tc>
                <a:tc>
                  <a:txBody>
                    <a:bodyPr/>
                    <a:lstStyle/>
                    <a:p>
                      <a:pPr algn="ctr"/>
                      <a:r>
                        <a:rPr sz="1400" b="0">
                          <a:solidFill>
                            <a:srgbClr val="1A1D24"/>
                          </a:solidFill>
                          <a:latin typeface="Segoe UI"/>
                        </a:rPr>
                        <a:t>0.09</a:t>
                      </a:r>
                    </a:p>
                  </a:txBody>
                  <a:tcPr>
                    <a:solidFill>
                      <a:srgbClr val="F2F5F9"/>
                    </a:solidFill>
                  </a:tcPr>
                </a:tc>
                <a:tc>
                  <a:txBody>
                    <a:bodyPr/>
                    <a:lstStyle/>
                    <a:p>
                      <a:pPr algn="ctr"/>
                      <a:r>
                        <a:rPr sz="1400" b="1">
                          <a:solidFill>
                            <a:srgbClr val="1B7F4B"/>
                          </a:solidFill>
                          <a:latin typeface="Segoe UI"/>
                        </a:rPr>
                        <a:t>0.99</a:t>
                      </a:r>
                    </a:p>
                  </a:txBody>
                  <a:tcPr>
                    <a:solidFill>
                      <a:srgbClr val="F2F5F9"/>
                    </a:solidFill>
                  </a:tcPr>
                </a:tc>
                <a:extLst>
                  <a:ext uri="{0D108BD9-81ED-4DB2-BD59-A6C34878D82A}">
                    <a16:rowId xmlns:a16="http://schemas.microsoft.com/office/drawing/2014/main" val="10002"/>
                  </a:ext>
                </a:extLst>
              </a:tr>
              <a:tr h="429768">
                <a:tc>
                  <a:txBody>
                    <a:bodyPr/>
                    <a:lstStyle/>
                    <a:p>
                      <a:pPr algn="l"/>
                      <a:r>
                        <a:rPr sz="1400" b="0">
                          <a:solidFill>
                            <a:srgbClr val="1A1D24"/>
                          </a:solidFill>
                          <a:latin typeface="Segoe UI"/>
                        </a:rPr>
                        <a:t>Just truncating the sentence</a:t>
                      </a:r>
                    </a:p>
                  </a:txBody>
                  <a:tcPr>
                    <a:solidFill>
                      <a:srgbClr val="FFFFFF"/>
                    </a:solidFill>
                  </a:tcPr>
                </a:tc>
                <a:tc>
                  <a:txBody>
                    <a:bodyPr/>
                    <a:lstStyle/>
                    <a:p>
                      <a:pPr algn="ctr"/>
                      <a:r>
                        <a:rPr sz="1400" b="1">
                          <a:solidFill>
                            <a:srgbClr val="1B7F4B"/>
                          </a:solidFill>
                          <a:latin typeface="Segoe UI"/>
                        </a:rPr>
                        <a:t>0.93</a:t>
                      </a:r>
                    </a:p>
                  </a:txBody>
                  <a:tcPr>
                    <a:solidFill>
                      <a:srgbClr val="FFFFFF"/>
                    </a:solidFill>
                  </a:tcPr>
                </a:tc>
                <a:tc>
                  <a:txBody>
                    <a:bodyPr/>
                    <a:lstStyle/>
                    <a:p>
                      <a:pPr algn="ctr"/>
                      <a:r>
                        <a:rPr sz="1400" b="1">
                          <a:solidFill>
                            <a:srgbClr val="1B7F4B"/>
                          </a:solidFill>
                          <a:latin typeface="Segoe UI"/>
                        </a:rPr>
                        <a:t>0.73</a:t>
                      </a:r>
                    </a:p>
                  </a:txBody>
                  <a:tcPr>
                    <a:solidFill>
                      <a:srgbClr val="FFFFFF"/>
                    </a:solidFill>
                  </a:tcPr>
                </a:tc>
                <a:tc>
                  <a:txBody>
                    <a:bodyPr/>
                    <a:lstStyle/>
                    <a:p>
                      <a:pPr algn="ctr"/>
                      <a:r>
                        <a:rPr sz="1400" b="0">
                          <a:solidFill>
                            <a:srgbClr val="1A1D24"/>
                          </a:solidFill>
                          <a:latin typeface="Segoe UI"/>
                        </a:rPr>
                        <a:t>0.02</a:t>
                      </a:r>
                    </a:p>
                  </a:txBody>
                  <a:tcPr>
                    <a:solidFill>
                      <a:srgbClr val="FFFFFF"/>
                    </a:solidFill>
                  </a:tcPr>
                </a:tc>
                <a:tc>
                  <a:txBody>
                    <a:bodyPr/>
                    <a:lstStyle/>
                    <a:p>
                      <a:pPr algn="ctr"/>
                      <a:r>
                        <a:rPr sz="1400" b="1" dirty="0">
                          <a:solidFill>
                            <a:srgbClr val="B32D2D"/>
                          </a:solidFill>
                          <a:latin typeface="Segoe UI"/>
                        </a:rPr>
                        <a:t>0.08</a:t>
                      </a:r>
                    </a:p>
                  </a:txBody>
                  <a:tcP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2194560"/>
            <a:ext cx="12191695" cy="18288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423160"/>
            <a:ext cx="10515600" cy="365760"/>
          </a:xfrm>
          <a:prstGeom prst="rect">
            <a:avLst/>
          </a:prstGeom>
          <a:noFill/>
        </p:spPr>
        <p:txBody>
          <a:bodyPr wrap="square">
            <a:spAutoFit/>
          </a:bodyPr>
          <a:lstStyle/>
          <a:p>
            <a:pPr algn="l">
              <a:lnSpc>
                <a:spcPct val="115000"/>
              </a:lnSpc>
              <a:spcAft>
                <a:spcPts val="600"/>
              </a:spcAft>
            </a:pPr>
            <a:r>
              <a:rPr sz="1500" b="1">
                <a:solidFill>
                  <a:srgbClr val="1F6FD4"/>
                </a:solidFill>
                <a:latin typeface="Segoe UI"/>
              </a:rPr>
              <a:t>PART 3</a:t>
            </a:r>
          </a:p>
        </p:txBody>
      </p:sp>
      <p:sp>
        <p:nvSpPr>
          <p:cNvPr id="4" name="TextBox 3"/>
          <p:cNvSpPr txBox="1"/>
          <p:nvPr/>
        </p:nvSpPr>
        <p:spPr>
          <a:xfrm>
            <a:off x="822960" y="2788920"/>
            <a:ext cx="10515600" cy="914400"/>
          </a:xfrm>
          <a:prstGeom prst="rect">
            <a:avLst/>
          </a:prstGeom>
          <a:noFill/>
        </p:spPr>
        <p:txBody>
          <a:bodyPr wrap="square">
            <a:spAutoFit/>
          </a:bodyPr>
          <a:lstStyle/>
          <a:p>
            <a:pPr algn="l">
              <a:lnSpc>
                <a:spcPct val="115000"/>
              </a:lnSpc>
              <a:spcAft>
                <a:spcPts val="600"/>
              </a:spcAft>
            </a:pPr>
            <a:r>
              <a:rPr sz="3400" b="1">
                <a:solidFill>
                  <a:srgbClr val="1A1D24"/>
                </a:solidFill>
                <a:latin typeface="Segoe UI"/>
              </a:rPr>
              <a:t>What we rebuilt, and why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881360" cy="640080"/>
          </a:xfrm>
          <a:prstGeom prst="rect">
            <a:avLst/>
          </a:prstGeom>
          <a:noFill/>
        </p:spPr>
        <p:txBody>
          <a:bodyPr wrap="square">
            <a:spAutoFit/>
          </a:bodyPr>
          <a:lstStyle/>
          <a:p>
            <a:pPr algn="l">
              <a:lnSpc>
                <a:spcPct val="115000"/>
              </a:lnSpc>
              <a:spcAft>
                <a:spcPts val="600"/>
              </a:spcAft>
            </a:pPr>
            <a:r>
              <a:rPr sz="2800" b="1">
                <a:solidFill>
                  <a:srgbClr val="1A1D24"/>
                </a:solidFill>
                <a:latin typeface="Segoe UI"/>
              </a:rPr>
              <a:t>The memory itself: gist vs details</a:t>
            </a:r>
          </a:p>
        </p:txBody>
      </p:sp>
      <p:sp>
        <p:nvSpPr>
          <p:cNvPr id="3" name="Rectangle 2"/>
          <p:cNvSpPr/>
          <p:nvPr/>
        </p:nvSpPr>
        <p:spPr>
          <a:xfrm>
            <a:off x="640080" y="1051560"/>
            <a:ext cx="1463040" cy="38100"/>
          </a:xfrm>
          <a:prstGeom prst="rect">
            <a:avLst/>
          </a:prstGeom>
          <a:solidFill>
            <a:srgbClr val="1F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325880"/>
            <a:ext cx="5120640" cy="365760"/>
          </a:xfrm>
          <a:prstGeom prst="rect">
            <a:avLst/>
          </a:prstGeom>
          <a:noFill/>
        </p:spPr>
        <p:txBody>
          <a:bodyPr wrap="square">
            <a:spAutoFit/>
          </a:bodyPr>
          <a:lstStyle/>
          <a:p>
            <a:pPr algn="l">
              <a:lnSpc>
                <a:spcPct val="115000"/>
              </a:lnSpc>
              <a:spcAft>
                <a:spcPts val="600"/>
              </a:spcAft>
            </a:pPr>
            <a:r>
              <a:rPr sz="1700" b="1">
                <a:solidFill>
                  <a:srgbClr val="B32D2D"/>
                </a:solidFill>
                <a:latin typeface="Segoe UI"/>
              </a:rPr>
              <a:t>Before</a:t>
            </a:r>
          </a:p>
        </p:txBody>
      </p:sp>
      <p:sp>
        <p:nvSpPr>
          <p:cNvPr id="5" name="TextBox 4"/>
          <p:cNvSpPr txBox="1"/>
          <p:nvPr/>
        </p:nvSpPr>
        <p:spPr>
          <a:xfrm>
            <a:off x="685800" y="1783080"/>
            <a:ext cx="5120640" cy="3840480"/>
          </a:xfrm>
          <a:prstGeom prst="rect">
            <a:avLst/>
          </a:prstGeom>
          <a:noFill/>
        </p:spPr>
        <p:txBody>
          <a:bodyPr wrap="square">
            <a:spAutoFit/>
          </a:bodyPr>
          <a:lstStyle/>
          <a:p>
            <a:pPr algn="l">
              <a:lnSpc>
                <a:spcPct val="115000"/>
              </a:lnSpc>
              <a:spcAft>
                <a:spcPts val="900"/>
              </a:spcAft>
            </a:pPr>
            <a:r>
              <a:rPr sz="1600" b="0">
                <a:solidFill>
                  <a:srgbClr val="1A1D24"/>
                </a:solidFill>
                <a:latin typeface="Segoe UI"/>
              </a:rPr>
              <a:t>The gist and the details were both a single linear layer on the same vector.</a:t>
            </a:r>
          </a:p>
          <a:p>
            <a:pPr algn="l">
              <a:lnSpc>
                <a:spcPct val="115000"/>
              </a:lnSpc>
              <a:spcAft>
                <a:spcPts val="900"/>
              </a:spcAft>
            </a:pPr>
            <a:endParaRPr sz="1600" b="0">
              <a:solidFill>
                <a:srgbClr val="1A1D24"/>
              </a:solidFill>
              <a:latin typeface="Segoe UI"/>
            </a:endParaRPr>
          </a:p>
          <a:p>
            <a:pPr algn="l">
              <a:lnSpc>
                <a:spcPct val="115000"/>
              </a:lnSpc>
              <a:spcAft>
                <a:spcPts val="900"/>
              </a:spcAft>
            </a:pPr>
            <a:r>
              <a:rPr sz="1600" b="0">
                <a:solidFill>
                  <a:srgbClr val="1A1D24"/>
                </a:solidFill>
                <a:latin typeface="Segoe UI"/>
              </a:rPr>
              <a:t>So they were not really different things — any separation had to come from the loss, and the only loss was 'rebuild the sentence'.</a:t>
            </a:r>
          </a:p>
          <a:p>
            <a:pPr algn="l">
              <a:lnSpc>
                <a:spcPct val="115000"/>
              </a:lnSpc>
              <a:spcAft>
                <a:spcPts val="900"/>
              </a:spcAft>
            </a:pPr>
            <a:endParaRPr sz="1600" b="0">
              <a:solidFill>
                <a:srgbClr val="1A1D24"/>
              </a:solidFill>
              <a:latin typeface="Segoe UI"/>
            </a:endParaRPr>
          </a:p>
          <a:p>
            <a:pPr algn="l">
              <a:lnSpc>
                <a:spcPct val="115000"/>
              </a:lnSpc>
              <a:spcAft>
                <a:spcPts val="900"/>
              </a:spcAft>
            </a:pPr>
            <a:r>
              <a:rPr sz="1600" b="0">
                <a:solidFill>
                  <a:srgbClr val="1A1D24"/>
                </a:solidFill>
                <a:latin typeface="Segoe UI"/>
              </a:rPr>
              <a:t>Nothing ever checked that the gist contained the gist.</a:t>
            </a:r>
          </a:p>
        </p:txBody>
      </p:sp>
      <p:sp>
        <p:nvSpPr>
          <p:cNvPr id="6" name="TextBox 5"/>
          <p:cNvSpPr txBox="1"/>
          <p:nvPr/>
        </p:nvSpPr>
        <p:spPr>
          <a:xfrm>
            <a:off x="6355080" y="1325880"/>
            <a:ext cx="5120640" cy="365760"/>
          </a:xfrm>
          <a:prstGeom prst="rect">
            <a:avLst/>
          </a:prstGeom>
          <a:noFill/>
        </p:spPr>
        <p:txBody>
          <a:bodyPr wrap="square">
            <a:spAutoFit/>
          </a:bodyPr>
          <a:lstStyle/>
          <a:p>
            <a:pPr algn="l">
              <a:lnSpc>
                <a:spcPct val="115000"/>
              </a:lnSpc>
              <a:spcAft>
                <a:spcPts val="600"/>
              </a:spcAft>
            </a:pPr>
            <a:r>
              <a:rPr sz="1700" b="1">
                <a:solidFill>
                  <a:srgbClr val="1B7F4B"/>
                </a:solidFill>
                <a:latin typeface="Segoe UI"/>
              </a:rPr>
              <a:t>Now</a:t>
            </a:r>
          </a:p>
        </p:txBody>
      </p:sp>
      <p:sp>
        <p:nvSpPr>
          <p:cNvPr id="7" name="TextBox 6"/>
          <p:cNvSpPr txBox="1"/>
          <p:nvPr/>
        </p:nvSpPr>
        <p:spPr>
          <a:xfrm>
            <a:off x="6355080" y="1783080"/>
            <a:ext cx="5120640" cy="3840480"/>
          </a:xfrm>
          <a:prstGeom prst="rect">
            <a:avLst/>
          </a:prstGeom>
          <a:noFill/>
        </p:spPr>
        <p:txBody>
          <a:bodyPr wrap="square">
            <a:spAutoFit/>
          </a:bodyPr>
          <a:lstStyle/>
          <a:p>
            <a:pPr algn="l">
              <a:lnSpc>
                <a:spcPct val="115000"/>
              </a:lnSpc>
              <a:spcAft>
                <a:spcPts val="900"/>
              </a:spcAft>
            </a:pPr>
            <a:r>
              <a:rPr sz="1600" b="0">
                <a:solidFill>
                  <a:srgbClr val="1A1D24"/>
                </a:solidFill>
                <a:latin typeface="Segoe UI"/>
              </a:rPr>
              <a:t>Gist: an attention layer picks WHICH parts matter, then a small network compresses them. Length-normalised so it behaves as a stable cue.</a:t>
            </a:r>
          </a:p>
          <a:p>
            <a:pPr algn="l">
              <a:lnSpc>
                <a:spcPct val="115000"/>
              </a:lnSpc>
              <a:spcAft>
                <a:spcPts val="900"/>
              </a:spcAft>
            </a:pPr>
            <a:endParaRPr sz="1600" b="0">
              <a:solidFill>
                <a:srgbClr val="1A1D24"/>
              </a:solidFill>
              <a:latin typeface="Segoe UI"/>
            </a:endParaRPr>
          </a:p>
          <a:p>
            <a:pPr algn="l">
              <a:lnSpc>
                <a:spcPct val="115000"/>
              </a:lnSpc>
              <a:spcAft>
                <a:spcPts val="900"/>
              </a:spcAft>
            </a:pPr>
            <a:r>
              <a:rPr sz="1600" b="0">
                <a:solidFill>
                  <a:srgbClr val="1A1D24"/>
                </a:solidFill>
                <a:latin typeface="Segoe UI"/>
              </a:rPr>
              <a:t>Details: slots can talk to each other, and the output is scale-controlled.</a:t>
            </a:r>
          </a:p>
          <a:p>
            <a:pPr algn="l">
              <a:lnSpc>
                <a:spcPct val="115000"/>
              </a:lnSpc>
              <a:spcAft>
                <a:spcPts val="900"/>
              </a:spcAft>
            </a:pPr>
            <a:endParaRPr sz="1600" b="0">
              <a:solidFill>
                <a:srgbClr val="1A1D24"/>
              </a:solidFill>
              <a:latin typeface="Segoe UI"/>
            </a:endParaRPr>
          </a:p>
          <a:p>
            <a:pPr algn="l">
              <a:lnSpc>
                <a:spcPct val="115000"/>
              </a:lnSpc>
              <a:spcAft>
                <a:spcPts val="900"/>
              </a:spcAft>
            </a:pPr>
            <a:r>
              <a:rPr sz="1600" b="0">
                <a:solidFill>
                  <a:srgbClr val="1A1D24"/>
                </a:solidFill>
                <a:latin typeface="Segoe UI"/>
              </a:rPr>
              <a:t>Three new training signals: write the summary from the gist alone; put the gist near an off-the-shelf sentence embedding; keep gist and details from duplicating each other.</a:t>
            </a:r>
          </a:p>
        </p:txBody>
      </p:sp>
      <p:sp>
        <p:nvSpPr>
          <p:cNvPr id="8" name="TextBox 7"/>
          <p:cNvSpPr txBox="1"/>
          <p:nvPr/>
        </p:nvSpPr>
        <p:spPr>
          <a:xfrm>
            <a:off x="685800" y="5852160"/>
            <a:ext cx="10789920" cy="640080"/>
          </a:xfrm>
          <a:prstGeom prst="rect">
            <a:avLst/>
          </a:prstGeom>
          <a:noFill/>
        </p:spPr>
        <p:txBody>
          <a:bodyPr wrap="square">
            <a:spAutoFit/>
          </a:bodyPr>
          <a:lstStyle/>
          <a:p>
            <a:pPr algn="l">
              <a:lnSpc>
                <a:spcPct val="115000"/>
              </a:lnSpc>
              <a:spcAft>
                <a:spcPts val="600"/>
              </a:spcAft>
            </a:pPr>
            <a:r>
              <a:rPr sz="1500" b="0">
                <a:solidFill>
                  <a:srgbClr val="5F6B7A"/>
                </a:solidFill>
                <a:latin typeface="Segoe UI"/>
              </a:rPr>
              <a:t>The second of those is the bridge to question answering: if the gist lives in a standard search space, a QUESTION lands next to it for free.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881360" cy="640080"/>
          </a:xfrm>
          <a:prstGeom prst="rect">
            <a:avLst/>
          </a:prstGeom>
          <a:noFill/>
        </p:spPr>
        <p:txBody>
          <a:bodyPr wrap="square">
            <a:spAutoFit/>
          </a:bodyPr>
          <a:lstStyle/>
          <a:p>
            <a:pPr algn="l">
              <a:lnSpc>
                <a:spcPct val="115000"/>
              </a:lnSpc>
              <a:spcAft>
                <a:spcPts val="600"/>
              </a:spcAft>
            </a:pPr>
            <a:r>
              <a:rPr sz="2800" b="1">
                <a:solidFill>
                  <a:srgbClr val="1A1D24"/>
                </a:solidFill>
                <a:latin typeface="Segoe UI"/>
              </a:rPr>
              <a:t>The most interesting change: give forgetting a floor</a:t>
            </a:r>
          </a:p>
        </p:txBody>
      </p:sp>
      <p:sp>
        <p:nvSpPr>
          <p:cNvPr id="3" name="Rectangle 2"/>
          <p:cNvSpPr/>
          <p:nvPr/>
        </p:nvSpPr>
        <p:spPr>
          <a:xfrm>
            <a:off x="640080" y="1051560"/>
            <a:ext cx="1463040" cy="38100"/>
          </a:xfrm>
          <a:prstGeom prst="rect">
            <a:avLst/>
          </a:prstGeom>
          <a:solidFill>
            <a:srgbClr val="1F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371600"/>
            <a:ext cx="10789920" cy="4297680"/>
          </a:xfrm>
          <a:prstGeom prst="rect">
            <a:avLst/>
          </a:prstGeom>
          <a:noFill/>
        </p:spPr>
        <p:txBody>
          <a:bodyPr wrap="square">
            <a:spAutoFit/>
          </a:bodyPr>
          <a:lstStyle/>
          <a:p>
            <a:pPr algn="l">
              <a:lnSpc>
                <a:spcPct val="115000"/>
              </a:lnSpc>
              <a:spcAft>
                <a:spcPts val="1000"/>
              </a:spcAft>
            </a:pPr>
            <a:r>
              <a:rPr sz="1800" b="0">
                <a:solidFill>
                  <a:srgbClr val="1A1D24"/>
                </a:solidFill>
                <a:latin typeface="Segoe UI"/>
              </a:rPr>
              <a:t>Standard diffusion destroys everything — at maximum noise you have pure static.</a:t>
            </a:r>
          </a:p>
          <a:p>
            <a:pPr algn="l">
              <a:lnSpc>
                <a:spcPct val="115000"/>
              </a:lnSpc>
              <a:spcAft>
                <a:spcPts val="1000"/>
              </a:spcAft>
            </a:pPr>
            <a:endParaRPr sz="1800" b="0">
              <a:solidFill>
                <a:srgbClr val="1A1D24"/>
              </a:solidFill>
              <a:latin typeface="Segoe UI"/>
            </a:endParaRPr>
          </a:p>
          <a:p>
            <a:pPr algn="l">
              <a:lnSpc>
                <a:spcPct val="115000"/>
              </a:lnSpc>
              <a:spcAft>
                <a:spcPts val="1000"/>
              </a:spcAft>
            </a:pPr>
            <a:r>
              <a:rPr sz="1800" b="0">
                <a:solidFill>
                  <a:srgbClr val="1A1D24"/>
                </a:solidFill>
                <a:latin typeface="Segoe UI"/>
              </a:rPr>
              <a:t>So our 'most abstract' rung was anchored on nothing, which is exactly where the old runs produced gibberish.</a:t>
            </a:r>
          </a:p>
          <a:p>
            <a:pPr algn="l">
              <a:lnSpc>
                <a:spcPct val="115000"/>
              </a:lnSpc>
              <a:spcAft>
                <a:spcPts val="1000"/>
              </a:spcAft>
            </a:pPr>
            <a:endParaRPr sz="1800" b="0">
              <a:solidFill>
                <a:srgbClr val="1A1D24"/>
              </a:solidFill>
              <a:latin typeface="Segoe UI"/>
            </a:endParaRPr>
          </a:p>
          <a:p>
            <a:pPr algn="l">
              <a:lnSpc>
                <a:spcPct val="115000"/>
              </a:lnSpc>
              <a:spcAft>
                <a:spcPts val="1000"/>
              </a:spcAft>
            </a:pPr>
            <a:r>
              <a:rPr sz="1800" b="0">
                <a:solidFill>
                  <a:srgbClr val="1A1D24"/>
                </a:solidFill>
                <a:latin typeface="Segoe UI"/>
              </a:rPr>
              <a:t>Change: we add noise to (details MINUS gist) instead of to everything.</a:t>
            </a:r>
          </a:p>
          <a:p>
            <a:pPr algn="l">
              <a:lnSpc>
                <a:spcPct val="115000"/>
              </a:lnSpc>
              <a:spcAft>
                <a:spcPts val="1000"/>
              </a:spcAft>
            </a:pPr>
            <a:endParaRPr sz="1800" b="0">
              <a:solidFill>
                <a:srgbClr val="1A1D24"/>
              </a:solidFill>
              <a:latin typeface="Segoe UI"/>
            </a:endParaRPr>
          </a:p>
          <a:p>
            <a:pPr algn="l">
              <a:lnSpc>
                <a:spcPct val="115000"/>
              </a:lnSpc>
              <a:spcAft>
                <a:spcPts val="1000"/>
              </a:spcAft>
            </a:pPr>
            <a:r>
              <a:rPr sz="1800" b="0">
                <a:solidFill>
                  <a:srgbClr val="1A1D24"/>
                </a:solidFill>
                <a:latin typeface="Segoe UI"/>
              </a:rPr>
              <a:t>Now maximum noise = the gist plus static, not static. Details dissolve; the gist survives — by construction, not by hope.</a:t>
            </a:r>
          </a:p>
          <a:p>
            <a:pPr algn="l">
              <a:lnSpc>
                <a:spcPct val="115000"/>
              </a:lnSpc>
              <a:spcAft>
                <a:spcPts val="1000"/>
              </a:spcAft>
            </a:pPr>
            <a:endParaRPr sz="1800" b="0">
              <a:solidFill>
                <a:srgbClr val="1A1D24"/>
              </a:solidFill>
              <a:latin typeface="Segoe UI"/>
            </a:endParaRPr>
          </a:p>
          <a:p>
            <a:pPr algn="l">
              <a:lnSpc>
                <a:spcPct val="115000"/>
              </a:lnSpc>
              <a:spcAft>
                <a:spcPts val="1000"/>
              </a:spcAft>
            </a:pPr>
            <a:r>
              <a:rPr sz="1800" b="0">
                <a:solidFill>
                  <a:srgbClr val="1A1D24"/>
                </a:solidFill>
                <a:latin typeface="Segoe UI"/>
              </a:rPr>
              <a:t>It is about fifteen lines of code and no new mathematics: ordinary diffusion on a shifted variable.</a:t>
            </a:r>
          </a:p>
        </p:txBody>
      </p:sp>
      <p:sp>
        <p:nvSpPr>
          <p:cNvPr id="5" name="TextBox 4"/>
          <p:cNvSpPr txBox="1"/>
          <p:nvPr/>
        </p:nvSpPr>
        <p:spPr>
          <a:xfrm>
            <a:off x="685800" y="5806440"/>
            <a:ext cx="10789920" cy="731520"/>
          </a:xfrm>
          <a:prstGeom prst="rect">
            <a:avLst/>
          </a:prstGeom>
          <a:noFill/>
        </p:spPr>
        <p:txBody>
          <a:bodyPr wrap="square">
            <a:spAutoFit/>
          </a:bodyPr>
          <a:lstStyle/>
          <a:p>
            <a:pPr algn="l">
              <a:lnSpc>
                <a:spcPct val="115000"/>
              </a:lnSpc>
              <a:spcAft>
                <a:spcPts val="600"/>
              </a:spcAft>
            </a:pPr>
            <a:r>
              <a:rPr sz="1500" b="0">
                <a:solidFill>
                  <a:srgbClr val="5F6B7A"/>
                </a:solidFill>
                <a:latin typeface="Segoe UI"/>
              </a:rPr>
              <a:t>This is the change worth writing a paper around. It makes the memory metaphor structurally true instead of aspirational.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881360" cy="640080"/>
          </a:xfrm>
          <a:prstGeom prst="rect">
            <a:avLst/>
          </a:prstGeom>
          <a:noFill/>
        </p:spPr>
        <p:txBody>
          <a:bodyPr wrap="square">
            <a:spAutoFit/>
          </a:bodyPr>
          <a:lstStyle/>
          <a:p>
            <a:pPr algn="l">
              <a:lnSpc>
                <a:spcPct val="115000"/>
              </a:lnSpc>
              <a:spcAft>
                <a:spcPts val="600"/>
              </a:spcAft>
            </a:pPr>
            <a:r>
              <a:rPr sz="2800" b="1">
                <a:solidFill>
                  <a:srgbClr val="1A1D24"/>
                </a:solidFill>
                <a:latin typeface="Segoe UI"/>
              </a:rPr>
              <a:t>Everything else that changed</a:t>
            </a:r>
          </a:p>
        </p:txBody>
      </p:sp>
      <p:sp>
        <p:nvSpPr>
          <p:cNvPr id="3" name="Rectangle 2"/>
          <p:cNvSpPr/>
          <p:nvPr/>
        </p:nvSpPr>
        <p:spPr>
          <a:xfrm>
            <a:off x="640080" y="1051560"/>
            <a:ext cx="1463040" cy="38100"/>
          </a:xfrm>
          <a:prstGeom prst="rect">
            <a:avLst/>
          </a:prstGeom>
          <a:solidFill>
            <a:srgbClr val="1F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640080" y="1371600"/>
          <a:ext cx="10881360" cy="3659124"/>
        </p:xfrm>
        <a:graphic>
          <a:graphicData uri="http://schemas.openxmlformats.org/drawingml/2006/table">
            <a:tbl>
              <a:tblPr firstRow="1" bandRow="1">
                <a:tableStyleId>{5C22544A-7EE6-4342-B048-85BDC9FD1C3A}</a:tableStyleId>
              </a:tblPr>
              <a:tblGrid>
                <a:gridCol w="1541526">
                  <a:extLst>
                    <a:ext uri="{9D8B030D-6E8A-4147-A177-3AD203B41FA5}">
                      <a16:colId xmlns:a16="http://schemas.microsoft.com/office/drawing/2014/main" val="20000"/>
                    </a:ext>
                  </a:extLst>
                </a:gridCol>
                <a:gridCol w="4805934">
                  <a:extLst>
                    <a:ext uri="{9D8B030D-6E8A-4147-A177-3AD203B41FA5}">
                      <a16:colId xmlns:a16="http://schemas.microsoft.com/office/drawing/2014/main" val="20001"/>
                    </a:ext>
                  </a:extLst>
                </a:gridCol>
                <a:gridCol w="4533900">
                  <a:extLst>
                    <a:ext uri="{9D8B030D-6E8A-4147-A177-3AD203B41FA5}">
                      <a16:colId xmlns:a16="http://schemas.microsoft.com/office/drawing/2014/main" val="20002"/>
                    </a:ext>
                  </a:extLst>
                </a:gridCol>
              </a:tblGrid>
              <a:tr h="406908">
                <a:tc>
                  <a:txBody>
                    <a:bodyPr/>
                    <a:lstStyle/>
                    <a:p>
                      <a:pPr algn="l"/>
                      <a:r>
                        <a:rPr sz="1300" b="1">
                          <a:solidFill>
                            <a:srgbClr val="FFFFFF"/>
                          </a:solidFill>
                          <a:latin typeface="Segoe UI"/>
                        </a:rPr>
                        <a:t>Part</a:t>
                      </a:r>
                    </a:p>
                  </a:txBody>
                  <a:tcPr>
                    <a:solidFill>
                      <a:srgbClr val="1A1D24"/>
                    </a:solidFill>
                  </a:tcPr>
                </a:tc>
                <a:tc>
                  <a:txBody>
                    <a:bodyPr/>
                    <a:lstStyle/>
                    <a:p>
                      <a:pPr algn="ctr"/>
                      <a:r>
                        <a:rPr sz="1300" b="1">
                          <a:solidFill>
                            <a:srgbClr val="FFFFFF"/>
                          </a:solidFill>
                          <a:latin typeface="Segoe UI"/>
                        </a:rPr>
                        <a:t>Change</a:t>
                      </a:r>
                    </a:p>
                  </a:txBody>
                  <a:tcPr>
                    <a:solidFill>
                      <a:srgbClr val="1A1D24"/>
                    </a:solidFill>
                  </a:tcPr>
                </a:tc>
                <a:tc>
                  <a:txBody>
                    <a:bodyPr/>
                    <a:lstStyle/>
                    <a:p>
                      <a:pPr algn="ctr"/>
                      <a:r>
                        <a:rPr sz="1300" b="1">
                          <a:solidFill>
                            <a:srgbClr val="FFFFFF"/>
                          </a:solidFill>
                          <a:latin typeface="Segoe UI"/>
                        </a:rPr>
                        <a:t>Why</a:t>
                      </a:r>
                    </a:p>
                  </a:txBody>
                  <a:tcPr>
                    <a:solidFill>
                      <a:srgbClr val="1A1D24"/>
                    </a:solidFill>
                  </a:tcPr>
                </a:tc>
                <a:extLst>
                  <a:ext uri="{0D108BD9-81ED-4DB2-BD59-A6C34878D82A}">
                    <a16:rowId xmlns:a16="http://schemas.microsoft.com/office/drawing/2014/main" val="10000"/>
                  </a:ext>
                </a:extLst>
              </a:tr>
              <a:tr h="406908">
                <a:tc>
                  <a:txBody>
                    <a:bodyPr/>
                    <a:lstStyle/>
                    <a:p>
                      <a:pPr algn="l"/>
                      <a:r>
                        <a:rPr sz="1300" b="0">
                          <a:solidFill>
                            <a:srgbClr val="1A1D24"/>
                          </a:solidFill>
                          <a:latin typeface="Segoe UI"/>
                        </a:rPr>
                        <a:t>Data</a:t>
                      </a:r>
                    </a:p>
                  </a:txBody>
                  <a:tcPr>
                    <a:solidFill>
                      <a:srgbClr val="FFFFFF"/>
                    </a:solidFill>
                  </a:tcPr>
                </a:tc>
                <a:tc>
                  <a:txBody>
                    <a:bodyPr/>
                    <a:lstStyle/>
                    <a:p>
                      <a:pPr algn="ctr"/>
                      <a:r>
                        <a:rPr sz="1300" b="0">
                          <a:solidFill>
                            <a:srgbClr val="1A1D24"/>
                          </a:solidFill>
                          <a:latin typeface="Segoe UI"/>
                        </a:rPr>
                        <a:t>Ladder now starts at the original sentence; sentence limit 64 → 128</a:t>
                      </a:r>
                    </a:p>
                  </a:txBody>
                  <a:tcPr>
                    <a:solidFill>
                      <a:srgbClr val="FFFFFF"/>
                    </a:solidFill>
                  </a:tcPr>
                </a:tc>
                <a:tc>
                  <a:txBody>
                    <a:bodyPr/>
                    <a:lstStyle/>
                    <a:p>
                      <a:pPr algn="ctr"/>
                      <a:r>
                        <a:rPr sz="1300" b="0">
                          <a:solidFill>
                            <a:srgbClr val="1A1D24"/>
                          </a:solidFill>
                          <a:latin typeface="Segoe UI"/>
                        </a:rPr>
                        <a:t>Full detail was unreachable; a third of sentences were being cut</a:t>
                      </a:r>
                    </a:p>
                  </a:txBody>
                  <a:tcPr>
                    <a:solidFill>
                      <a:srgbClr val="FFFFFF"/>
                    </a:solidFill>
                  </a:tcPr>
                </a:tc>
                <a:extLst>
                  <a:ext uri="{0D108BD9-81ED-4DB2-BD59-A6C34878D82A}">
                    <a16:rowId xmlns:a16="http://schemas.microsoft.com/office/drawing/2014/main" val="10001"/>
                  </a:ext>
                </a:extLst>
              </a:tr>
              <a:tr h="406908">
                <a:tc>
                  <a:txBody>
                    <a:bodyPr/>
                    <a:lstStyle/>
                    <a:p>
                      <a:pPr algn="l"/>
                      <a:r>
                        <a:rPr sz="1300" b="0">
                          <a:solidFill>
                            <a:srgbClr val="1A1D24"/>
                          </a:solidFill>
                          <a:latin typeface="Segoe UI"/>
                        </a:rPr>
                        <a:t>Data</a:t>
                      </a:r>
                    </a:p>
                  </a:txBody>
                  <a:tcPr>
                    <a:solidFill>
                      <a:srgbClr val="F2F5F9"/>
                    </a:solidFill>
                  </a:tcPr>
                </a:tc>
                <a:tc>
                  <a:txBody>
                    <a:bodyPr/>
                    <a:lstStyle/>
                    <a:p>
                      <a:pPr algn="ctr"/>
                      <a:r>
                        <a:rPr sz="1300" b="0">
                          <a:solidFill>
                            <a:srgbClr val="1A1D24"/>
                          </a:solidFill>
                          <a:latin typeface="Segoe UI"/>
                        </a:rPr>
                        <a:t>Contrastive partner = another rung of the same ladder</a:t>
                      </a:r>
                    </a:p>
                  </a:txBody>
                  <a:tcPr>
                    <a:solidFill>
                      <a:srgbClr val="F2F5F9"/>
                    </a:solidFill>
                  </a:tcPr>
                </a:tc>
                <a:tc>
                  <a:txBody>
                    <a:bodyPr/>
                    <a:lstStyle/>
                    <a:p>
                      <a:pPr algn="ctr"/>
                      <a:r>
                        <a:rPr sz="1300" b="0">
                          <a:solidFill>
                            <a:srgbClr val="1A1D24"/>
                          </a:solidFill>
                          <a:latin typeface="Segoe UI"/>
                        </a:rPr>
                        <a:t>Free, and it IS the claim: the gist must not change as detail fades</a:t>
                      </a:r>
                    </a:p>
                  </a:txBody>
                  <a:tcPr>
                    <a:solidFill>
                      <a:srgbClr val="F2F5F9"/>
                    </a:solidFill>
                  </a:tcPr>
                </a:tc>
                <a:extLst>
                  <a:ext uri="{0D108BD9-81ED-4DB2-BD59-A6C34878D82A}">
                    <a16:rowId xmlns:a16="http://schemas.microsoft.com/office/drawing/2014/main" val="10002"/>
                  </a:ext>
                </a:extLst>
              </a:tr>
              <a:tr h="406908">
                <a:tc>
                  <a:txBody>
                    <a:bodyPr/>
                    <a:lstStyle/>
                    <a:p>
                      <a:pPr algn="l"/>
                      <a:r>
                        <a:rPr sz="1300" b="0">
                          <a:solidFill>
                            <a:srgbClr val="1A1D24"/>
                          </a:solidFill>
                          <a:latin typeface="Segoe UI"/>
                        </a:rPr>
                        <a:t>Encoder</a:t>
                      </a:r>
                    </a:p>
                  </a:txBody>
                  <a:tcPr>
                    <a:solidFill>
                      <a:srgbClr val="FFFFFF"/>
                    </a:solidFill>
                  </a:tcPr>
                </a:tc>
                <a:tc>
                  <a:txBody>
                    <a:bodyPr/>
                    <a:lstStyle/>
                    <a:p>
                      <a:pPr algn="ctr"/>
                      <a:r>
                        <a:rPr sz="1300" b="0">
                          <a:solidFill>
                            <a:srgbClr val="1A1D24"/>
                          </a:solidFill>
                          <a:latin typeface="Segoe UI"/>
                        </a:rPr>
                        <a:t>t5-small → flan-t5-base; separate frozen encoder for the gist</a:t>
                      </a:r>
                    </a:p>
                  </a:txBody>
                  <a:tcPr>
                    <a:solidFill>
                      <a:srgbClr val="FFFFFF"/>
                    </a:solidFill>
                  </a:tcPr>
                </a:tc>
                <a:tc>
                  <a:txBody>
                    <a:bodyPr/>
                    <a:lstStyle/>
                    <a:p>
                      <a:pPr algn="ctr"/>
                      <a:r>
                        <a:rPr sz="1300" b="0">
                          <a:solidFill>
                            <a:srgbClr val="1A1D24"/>
                          </a:solidFill>
                          <a:latin typeface="Segoe UI"/>
                        </a:rPr>
                        <a:t>Bigger win than more parameters; makes question-as-cue work later</a:t>
                      </a:r>
                    </a:p>
                  </a:txBody>
                  <a:tcPr>
                    <a:solidFill>
                      <a:srgbClr val="FFFFFF"/>
                    </a:solidFill>
                  </a:tcPr>
                </a:tc>
                <a:extLst>
                  <a:ext uri="{0D108BD9-81ED-4DB2-BD59-A6C34878D82A}">
                    <a16:rowId xmlns:a16="http://schemas.microsoft.com/office/drawing/2014/main" val="10003"/>
                  </a:ext>
                </a:extLst>
              </a:tr>
              <a:tr h="406908">
                <a:tc>
                  <a:txBody>
                    <a:bodyPr/>
                    <a:lstStyle/>
                    <a:p>
                      <a:pPr algn="l"/>
                      <a:r>
                        <a:rPr sz="1300" b="0">
                          <a:solidFill>
                            <a:srgbClr val="1A1D24"/>
                          </a:solidFill>
                          <a:latin typeface="Segoe UI"/>
                        </a:rPr>
                        <a:t>Projection</a:t>
                      </a:r>
                    </a:p>
                  </a:txBody>
                  <a:tcPr>
                    <a:solidFill>
                      <a:srgbClr val="F2F5F9"/>
                    </a:solidFill>
                  </a:tcPr>
                </a:tc>
                <a:tc>
                  <a:txBody>
                    <a:bodyPr/>
                    <a:lstStyle/>
                    <a:p>
                      <a:pPr algn="ctr"/>
                      <a:r>
                        <a:rPr sz="1300" b="0">
                          <a:solidFill>
                            <a:srgbClr val="1A1D24"/>
                          </a:solidFill>
                          <a:latin typeface="Segoe UI"/>
                        </a:rPr>
                        <a:t>Turn on attention; let it read the gist directly; give it its own loss</a:t>
                      </a:r>
                    </a:p>
                  </a:txBody>
                  <a:tcPr>
                    <a:solidFill>
                      <a:srgbClr val="F2F5F9"/>
                    </a:solidFill>
                  </a:tcPr>
                </a:tc>
                <a:tc>
                  <a:txBody>
                    <a:bodyPr/>
                    <a:lstStyle/>
                    <a:p>
                      <a:pPr algn="ctr"/>
                      <a:r>
                        <a:rPr sz="1300" b="0">
                          <a:solidFill>
                            <a:srgbClr val="1A1D24"/>
                          </a:solidFill>
                          <a:latin typeface="Segoe UI"/>
                        </a:rPr>
                        <a:t>It was a per-slot MLP with no target of its own</a:t>
                      </a:r>
                    </a:p>
                  </a:txBody>
                  <a:tcPr>
                    <a:solidFill>
                      <a:srgbClr val="F2F5F9"/>
                    </a:solidFill>
                  </a:tcPr>
                </a:tc>
                <a:extLst>
                  <a:ext uri="{0D108BD9-81ED-4DB2-BD59-A6C34878D82A}">
                    <a16:rowId xmlns:a16="http://schemas.microsoft.com/office/drawing/2014/main" val="10004"/>
                  </a:ext>
                </a:extLst>
              </a:tr>
              <a:tr h="406908">
                <a:tc>
                  <a:txBody>
                    <a:bodyPr/>
                    <a:lstStyle/>
                    <a:p>
                      <a:pPr algn="l"/>
                      <a:r>
                        <a:rPr sz="1300" b="0">
                          <a:solidFill>
                            <a:srgbClr val="1A1D24"/>
                          </a:solidFill>
                          <a:latin typeface="Segoe UI"/>
                        </a:rPr>
                        <a:t>Decoder</a:t>
                      </a:r>
                    </a:p>
                  </a:txBody>
                  <a:tcPr>
                    <a:solidFill>
                      <a:srgbClr val="FFFFFF"/>
                    </a:solidFill>
                  </a:tcPr>
                </a:tc>
                <a:tc>
                  <a:txBody>
                    <a:bodyPr/>
                    <a:lstStyle/>
                    <a:p>
                      <a:pPr algn="ctr"/>
                      <a:r>
                        <a:rPr sz="1300" b="0">
                          <a:solidFill>
                            <a:srgbClr val="1A1D24"/>
                          </a:solidFill>
                          <a:latin typeface="Segoe UI"/>
                        </a:rPr>
                        <a:t>Told which level of detail to produce, via a 'level token'</a:t>
                      </a:r>
                    </a:p>
                  </a:txBody>
                  <a:tcPr>
                    <a:solidFill>
                      <a:srgbClr val="FFFFFF"/>
                    </a:solidFill>
                  </a:tcPr>
                </a:tc>
                <a:tc>
                  <a:txBody>
                    <a:bodyPr/>
                    <a:lstStyle/>
                    <a:p>
                      <a:pPr algn="ctr"/>
                      <a:r>
                        <a:rPr sz="1300" b="0">
                          <a:solidFill>
                            <a:srgbClr val="1A1D24"/>
                          </a:solidFill>
                          <a:latin typeface="Segoe UI"/>
                        </a:rPr>
                        <a:t>It had to GUESS whether a short answer was intended or a failure</a:t>
                      </a:r>
                    </a:p>
                  </a:txBody>
                  <a:tcPr>
                    <a:solidFill>
                      <a:srgbClr val="FFFFFF"/>
                    </a:solidFill>
                  </a:tcPr>
                </a:tc>
                <a:extLst>
                  <a:ext uri="{0D108BD9-81ED-4DB2-BD59-A6C34878D82A}">
                    <a16:rowId xmlns:a16="http://schemas.microsoft.com/office/drawing/2014/main" val="10005"/>
                  </a:ext>
                </a:extLst>
              </a:tr>
              <a:tr h="406908">
                <a:tc>
                  <a:txBody>
                    <a:bodyPr/>
                    <a:lstStyle/>
                    <a:p>
                      <a:pPr algn="l"/>
                      <a:r>
                        <a:rPr sz="1300" b="0">
                          <a:solidFill>
                            <a:srgbClr val="1A1D24"/>
                          </a:solidFill>
                          <a:latin typeface="Segoe UI"/>
                        </a:rPr>
                        <a:t>Diffusion</a:t>
                      </a:r>
                    </a:p>
                  </a:txBody>
                  <a:tcPr>
                    <a:solidFill>
                      <a:srgbClr val="F2F5F9"/>
                    </a:solidFill>
                  </a:tcPr>
                </a:tc>
                <a:tc>
                  <a:txBody>
                    <a:bodyPr/>
                    <a:lstStyle/>
                    <a:p>
                      <a:pPr algn="ctr"/>
                      <a:r>
                        <a:rPr sz="1300" b="0">
                          <a:solidFill>
                            <a:srgbClr val="1A1D24"/>
                          </a:solidFill>
                          <a:latin typeface="Segoe UI"/>
                        </a:rPr>
                        <a:t>Predict the clean latent directly; multi-step only</a:t>
                      </a:r>
                    </a:p>
                  </a:txBody>
                  <a:tcPr>
                    <a:solidFill>
                      <a:srgbClr val="F2F5F9"/>
                    </a:solidFill>
                  </a:tcPr>
                </a:tc>
                <a:tc>
                  <a:txBody>
                    <a:bodyPr/>
                    <a:lstStyle/>
                    <a:p>
                      <a:pPr algn="ctr"/>
                      <a:r>
                        <a:rPr sz="1300" b="0">
                          <a:solidFill>
                            <a:srgbClr val="1A1D24"/>
                          </a:solidFill>
                          <a:latin typeface="Segoe UI"/>
                        </a:rPr>
                        <a:t>Removes the divide-by-almost-zero that broke high-noise readout</a:t>
                      </a:r>
                    </a:p>
                  </a:txBody>
                  <a:tcPr>
                    <a:solidFill>
                      <a:srgbClr val="F2F5F9"/>
                    </a:solidFill>
                  </a:tcPr>
                </a:tc>
                <a:extLst>
                  <a:ext uri="{0D108BD9-81ED-4DB2-BD59-A6C34878D82A}">
                    <a16:rowId xmlns:a16="http://schemas.microsoft.com/office/drawing/2014/main" val="10006"/>
                  </a:ext>
                </a:extLst>
              </a:tr>
              <a:tr h="406908">
                <a:tc>
                  <a:txBody>
                    <a:bodyPr/>
                    <a:lstStyle/>
                    <a:p>
                      <a:pPr algn="l"/>
                      <a:r>
                        <a:rPr sz="1300" b="0">
                          <a:solidFill>
                            <a:srgbClr val="1A1D24"/>
                          </a:solidFill>
                          <a:latin typeface="Segoe UI"/>
                        </a:rPr>
                        <a:t>Evaluation</a:t>
                      </a:r>
                    </a:p>
                  </a:txBody>
                  <a:tcPr>
                    <a:solidFill>
                      <a:srgbClr val="FFFFFF"/>
                    </a:solidFill>
                  </a:tcPr>
                </a:tc>
                <a:tc>
                  <a:txBody>
                    <a:bodyPr/>
                    <a:lstStyle/>
                    <a:p>
                      <a:pPr algn="ctr"/>
                      <a:r>
                        <a:rPr sz="1300" b="0">
                          <a:solidFill>
                            <a:srgbClr val="1A1D24"/>
                          </a:solidFill>
                          <a:latin typeface="Segoe UI"/>
                        </a:rPr>
                        <a:t>Count facts by type instead of embedding similarity</a:t>
                      </a:r>
                    </a:p>
                  </a:txBody>
                  <a:tcPr>
                    <a:solidFill>
                      <a:srgbClr val="FFFFFF"/>
                    </a:solidFill>
                  </a:tcPr>
                </a:tc>
                <a:tc>
                  <a:txBody>
                    <a:bodyPr/>
                    <a:lstStyle/>
                    <a:p>
                      <a:pPr algn="ctr"/>
                      <a:r>
                        <a:rPr sz="1300" b="0">
                          <a:solidFill>
                            <a:srgbClr val="1A1D24"/>
                          </a:solidFill>
                          <a:latin typeface="Segoe UI"/>
                        </a:rPr>
                        <a:t>BERTScore cannot tell Paris from London</a:t>
                      </a:r>
                    </a:p>
                  </a:txBody>
                  <a:tcP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2194560"/>
            <a:ext cx="12191695" cy="18288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423160"/>
            <a:ext cx="10515600" cy="365760"/>
          </a:xfrm>
          <a:prstGeom prst="rect">
            <a:avLst/>
          </a:prstGeom>
          <a:noFill/>
        </p:spPr>
        <p:txBody>
          <a:bodyPr wrap="square">
            <a:spAutoFit/>
          </a:bodyPr>
          <a:lstStyle/>
          <a:p>
            <a:pPr algn="l">
              <a:lnSpc>
                <a:spcPct val="115000"/>
              </a:lnSpc>
              <a:spcAft>
                <a:spcPts val="600"/>
              </a:spcAft>
            </a:pPr>
            <a:r>
              <a:rPr sz="1500" b="1">
                <a:solidFill>
                  <a:srgbClr val="1F6FD4"/>
                </a:solidFill>
                <a:latin typeface="Segoe UI"/>
              </a:rPr>
              <a:t>PART 4</a:t>
            </a:r>
          </a:p>
        </p:txBody>
      </p:sp>
      <p:sp>
        <p:nvSpPr>
          <p:cNvPr id="4" name="TextBox 3"/>
          <p:cNvSpPr txBox="1"/>
          <p:nvPr/>
        </p:nvSpPr>
        <p:spPr>
          <a:xfrm>
            <a:off x="822960" y="2788920"/>
            <a:ext cx="10515600" cy="914400"/>
          </a:xfrm>
          <a:prstGeom prst="rect">
            <a:avLst/>
          </a:prstGeom>
          <a:noFill/>
        </p:spPr>
        <p:txBody>
          <a:bodyPr wrap="square">
            <a:spAutoFit/>
          </a:bodyPr>
          <a:lstStyle/>
          <a:p>
            <a:pPr algn="l">
              <a:lnSpc>
                <a:spcPct val="115000"/>
              </a:lnSpc>
              <a:spcAft>
                <a:spcPts val="600"/>
              </a:spcAft>
            </a:pPr>
            <a:r>
              <a:rPr sz="3400" b="1">
                <a:solidFill>
                  <a:srgbClr val="1A1D24"/>
                </a:solidFill>
                <a:latin typeface="Segoe UI"/>
              </a:rPr>
              <a:t>How we know it works before spending a penny on GPUs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881360" cy="640080"/>
          </a:xfrm>
          <a:prstGeom prst="rect">
            <a:avLst/>
          </a:prstGeom>
          <a:noFill/>
        </p:spPr>
        <p:txBody>
          <a:bodyPr wrap="square">
            <a:spAutoFit/>
          </a:bodyPr>
          <a:lstStyle/>
          <a:p>
            <a:pPr algn="l">
              <a:lnSpc>
                <a:spcPct val="115000"/>
              </a:lnSpc>
              <a:spcAft>
                <a:spcPts val="600"/>
              </a:spcAft>
            </a:pPr>
            <a:r>
              <a:rPr sz="2800" b="1">
                <a:solidFill>
                  <a:srgbClr val="1A1D24"/>
                </a:solidFill>
                <a:latin typeface="Segoe UI"/>
              </a:rPr>
              <a:t>Everything is testable on a laptop</a:t>
            </a:r>
          </a:p>
        </p:txBody>
      </p:sp>
      <p:sp>
        <p:nvSpPr>
          <p:cNvPr id="3" name="Rectangle 2"/>
          <p:cNvSpPr/>
          <p:nvPr/>
        </p:nvSpPr>
        <p:spPr>
          <a:xfrm>
            <a:off x="640080" y="1051560"/>
            <a:ext cx="1463040" cy="38100"/>
          </a:xfrm>
          <a:prstGeom prst="rect">
            <a:avLst/>
          </a:prstGeom>
          <a:solidFill>
            <a:srgbClr val="1F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371600"/>
            <a:ext cx="10789920" cy="4297680"/>
          </a:xfrm>
          <a:prstGeom prst="rect">
            <a:avLst/>
          </a:prstGeom>
          <a:noFill/>
        </p:spPr>
        <p:txBody>
          <a:bodyPr wrap="square">
            <a:spAutoFit/>
          </a:bodyPr>
          <a:lstStyle/>
          <a:p>
            <a:pPr algn="l">
              <a:lnSpc>
                <a:spcPct val="115000"/>
              </a:lnSpc>
              <a:spcAft>
                <a:spcPts val="1000"/>
              </a:spcAft>
            </a:pPr>
            <a:r>
              <a:rPr sz="1800" b="0">
                <a:solidFill>
                  <a:srgbClr val="1A1D24"/>
                </a:solidFill>
                <a:latin typeface="Segoe UI"/>
              </a:rPr>
              <a:t>133 automated tests, all passing, ~50 seconds, no GPU and no internet.</a:t>
            </a:r>
          </a:p>
          <a:p>
            <a:pPr algn="l">
              <a:lnSpc>
                <a:spcPct val="115000"/>
              </a:lnSpc>
              <a:spcAft>
                <a:spcPts val="1000"/>
              </a:spcAft>
            </a:pPr>
            <a:endParaRPr sz="1800" b="0">
              <a:solidFill>
                <a:srgbClr val="1A1D24"/>
              </a:solidFill>
              <a:latin typeface="Segoe UI"/>
            </a:endParaRPr>
          </a:p>
          <a:p>
            <a:pPr algn="l">
              <a:lnSpc>
                <a:spcPct val="115000"/>
              </a:lnSpc>
              <a:spcAft>
                <a:spcPts val="1000"/>
              </a:spcAft>
            </a:pPr>
            <a:r>
              <a:rPr sz="1800" b="0">
                <a:solidFill>
                  <a:srgbClr val="1A1D24"/>
                </a:solidFill>
                <a:latin typeface="Segoe UI"/>
              </a:rPr>
              <a:t>The whole 3-stage pipeline runs end to end on CPU in 37 seconds using a tiny stand-in model: python -m tools.smoke</a:t>
            </a:r>
          </a:p>
          <a:p>
            <a:pPr algn="l">
              <a:lnSpc>
                <a:spcPct val="115000"/>
              </a:lnSpc>
              <a:spcAft>
                <a:spcPts val="1000"/>
              </a:spcAft>
            </a:pPr>
            <a:endParaRPr sz="1800" b="0">
              <a:solidFill>
                <a:srgbClr val="1A1D24"/>
              </a:solidFill>
              <a:latin typeface="Segoe UI"/>
            </a:endParaRPr>
          </a:p>
          <a:p>
            <a:pPr algn="l">
              <a:lnSpc>
                <a:spcPct val="115000"/>
              </a:lnSpc>
              <a:spcAft>
                <a:spcPts val="1000"/>
              </a:spcAft>
            </a:pPr>
            <a:r>
              <a:rPr sz="1800" b="0">
                <a:solidFill>
                  <a:srgbClr val="1A1D24"/>
                </a:solidFill>
                <a:latin typeface="Segoe UI"/>
              </a:rPr>
              <a:t>Tests specifically check the things that went wrong last time:</a:t>
            </a:r>
          </a:p>
          <a:p>
            <a:pPr lvl="1" algn="l">
              <a:lnSpc>
                <a:spcPct val="115000"/>
              </a:lnSpc>
              <a:spcAft>
                <a:spcPts val="1000"/>
              </a:spcAft>
            </a:pPr>
            <a:r>
              <a:rPr sz="1800" b="0">
                <a:solidFill>
                  <a:srgbClr val="1A1D24"/>
                </a:solidFill>
                <a:latin typeface="Segoe UI"/>
              </a:rPr>
              <a:t>does every component actually receive gradient?</a:t>
            </a:r>
          </a:p>
          <a:p>
            <a:pPr lvl="1" algn="l">
              <a:lnSpc>
                <a:spcPct val="115000"/>
              </a:lnSpc>
              <a:spcAft>
                <a:spcPts val="1000"/>
              </a:spcAft>
            </a:pPr>
            <a:r>
              <a:rPr sz="1800" b="0">
                <a:solidFill>
                  <a:srgbClr val="1A1D24"/>
                </a:solidFill>
                <a:latin typeface="Segoe UI"/>
              </a:rPr>
              <a:t>does the frozen part stay frozen?</a:t>
            </a:r>
          </a:p>
          <a:p>
            <a:pPr lvl="1" algn="l">
              <a:lnSpc>
                <a:spcPct val="115000"/>
              </a:lnSpc>
              <a:spcAft>
                <a:spcPts val="1000"/>
              </a:spcAft>
            </a:pPr>
            <a:r>
              <a:rPr sz="1800" b="0">
                <a:solidFill>
                  <a:srgbClr val="1A1D24"/>
                </a:solidFill>
                <a:latin typeface="Segoe UI"/>
              </a:rPr>
              <a:t>is stage 3 fed exactly what inference will feed it?</a:t>
            </a:r>
          </a:p>
          <a:p>
            <a:pPr lvl="1" algn="l">
              <a:lnSpc>
                <a:spcPct val="115000"/>
              </a:lnSpc>
              <a:spcAft>
                <a:spcPts val="1000"/>
              </a:spcAft>
            </a:pPr>
            <a:r>
              <a:rPr sz="1800" b="0">
                <a:solidFill>
                  <a:srgbClr val="1A1D24"/>
                </a:solidFill>
                <a:latin typeface="Segoe UI"/>
              </a:rPr>
              <a:t>does a saved checkpoint reload to identical outputs?</a:t>
            </a:r>
          </a:p>
          <a:p>
            <a:pPr lvl="1" algn="l">
              <a:lnSpc>
                <a:spcPct val="115000"/>
              </a:lnSpc>
              <a:spcAft>
                <a:spcPts val="1000"/>
              </a:spcAft>
            </a:pPr>
            <a:r>
              <a:rPr sz="1800" b="0">
                <a:solidFill>
                  <a:srgbClr val="1A1D24"/>
                </a:solidFill>
                <a:latin typeface="Segoe UI"/>
              </a:rPr>
              <a:t>is the same trajectory reproducible twice?</a:t>
            </a:r>
          </a:p>
          <a:p>
            <a:pPr algn="l">
              <a:lnSpc>
                <a:spcPct val="115000"/>
              </a:lnSpc>
              <a:spcAft>
                <a:spcPts val="1000"/>
              </a:spcAft>
            </a:pPr>
            <a:endParaRPr sz="1800" b="0">
              <a:solidFill>
                <a:srgbClr val="1A1D24"/>
              </a:solidFill>
              <a:latin typeface="Segoe UI"/>
            </a:endParaRPr>
          </a:p>
          <a:p>
            <a:pPr algn="l">
              <a:lnSpc>
                <a:spcPct val="115000"/>
              </a:lnSpc>
              <a:spcAft>
                <a:spcPts val="1000"/>
              </a:spcAft>
            </a:pPr>
            <a:r>
              <a:rPr sz="1800" b="0">
                <a:solidFill>
                  <a:srgbClr val="1A1D24"/>
                </a:solidFill>
                <a:latin typeface="Segoe UI"/>
              </a:rPr>
              <a:t>Two bugs were caught this way already — one where the 'random noise' was accidentally identical to the data.</a:t>
            </a:r>
          </a:p>
        </p:txBody>
      </p:sp>
      <p:sp>
        <p:nvSpPr>
          <p:cNvPr id="5" name="TextBox 4"/>
          <p:cNvSpPr txBox="1"/>
          <p:nvPr/>
        </p:nvSpPr>
        <p:spPr>
          <a:xfrm>
            <a:off x="685800" y="5806440"/>
            <a:ext cx="10789920" cy="731520"/>
          </a:xfrm>
          <a:prstGeom prst="rect">
            <a:avLst/>
          </a:prstGeom>
          <a:noFill/>
        </p:spPr>
        <p:txBody>
          <a:bodyPr wrap="square">
            <a:spAutoFit/>
          </a:bodyPr>
          <a:lstStyle/>
          <a:p>
            <a:pPr algn="l">
              <a:lnSpc>
                <a:spcPct val="115000"/>
              </a:lnSpc>
              <a:spcAft>
                <a:spcPts val="600"/>
              </a:spcAft>
            </a:pPr>
            <a:r>
              <a:rPr sz="1500" b="0">
                <a:solidFill>
                  <a:srgbClr val="5F6B7A"/>
                </a:solidFill>
                <a:latin typeface="Segoe UI"/>
              </a:rPr>
              <a:t>What this cannot tell us is whether the idea works. It tells us that when we get GPUs, 'press go' is a scheduling problem, not a debugging one.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2194560"/>
            <a:ext cx="12191695" cy="182880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423160"/>
            <a:ext cx="10515600" cy="365760"/>
          </a:xfrm>
          <a:prstGeom prst="rect">
            <a:avLst/>
          </a:prstGeom>
          <a:noFill/>
        </p:spPr>
        <p:txBody>
          <a:bodyPr wrap="square">
            <a:spAutoFit/>
          </a:bodyPr>
          <a:lstStyle/>
          <a:p>
            <a:pPr algn="l">
              <a:lnSpc>
                <a:spcPct val="115000"/>
              </a:lnSpc>
              <a:spcAft>
                <a:spcPts val="600"/>
              </a:spcAft>
            </a:pPr>
            <a:r>
              <a:rPr sz="1500" b="1">
                <a:solidFill>
                  <a:srgbClr val="1F6FD4"/>
                </a:solidFill>
                <a:latin typeface="Segoe UI"/>
              </a:rPr>
              <a:t>PART 5</a:t>
            </a:r>
          </a:p>
        </p:txBody>
      </p:sp>
      <p:sp>
        <p:nvSpPr>
          <p:cNvPr id="4" name="TextBox 3"/>
          <p:cNvSpPr txBox="1"/>
          <p:nvPr/>
        </p:nvSpPr>
        <p:spPr>
          <a:xfrm>
            <a:off x="822960" y="2788920"/>
            <a:ext cx="10515600" cy="914400"/>
          </a:xfrm>
          <a:prstGeom prst="rect">
            <a:avLst/>
          </a:prstGeom>
          <a:noFill/>
        </p:spPr>
        <p:txBody>
          <a:bodyPr wrap="square">
            <a:spAutoFit/>
          </a:bodyPr>
          <a:lstStyle/>
          <a:p>
            <a:pPr algn="l">
              <a:lnSpc>
                <a:spcPct val="115000"/>
              </a:lnSpc>
              <a:spcAft>
                <a:spcPts val="600"/>
              </a:spcAft>
            </a:pPr>
            <a:r>
              <a:rPr sz="3400" b="1">
                <a:solidFill>
                  <a:srgbClr val="1A1D24"/>
                </a:solidFill>
                <a:latin typeface="Segoe UI"/>
              </a:rPr>
              <a:t>What to run, in what order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881360" cy="640080"/>
          </a:xfrm>
          <a:prstGeom prst="rect">
            <a:avLst/>
          </a:prstGeom>
          <a:noFill/>
        </p:spPr>
        <p:txBody>
          <a:bodyPr wrap="square">
            <a:spAutoFit/>
          </a:bodyPr>
          <a:lstStyle/>
          <a:p>
            <a:pPr algn="l">
              <a:lnSpc>
                <a:spcPct val="115000"/>
              </a:lnSpc>
              <a:spcAft>
                <a:spcPts val="600"/>
              </a:spcAft>
            </a:pPr>
            <a:r>
              <a:rPr sz="2800" b="1">
                <a:solidFill>
                  <a:srgbClr val="1A1D24"/>
                </a:solidFill>
                <a:latin typeface="Segoe UI"/>
              </a:rPr>
              <a:t>The experiments, and the command for each</a:t>
            </a:r>
          </a:p>
        </p:txBody>
      </p:sp>
      <p:sp>
        <p:nvSpPr>
          <p:cNvPr id="3" name="Rectangle 2"/>
          <p:cNvSpPr/>
          <p:nvPr/>
        </p:nvSpPr>
        <p:spPr>
          <a:xfrm>
            <a:off x="640080" y="1051560"/>
            <a:ext cx="1463040" cy="38100"/>
          </a:xfrm>
          <a:prstGeom prst="rect">
            <a:avLst/>
          </a:prstGeom>
          <a:solidFill>
            <a:srgbClr val="1F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640080" y="1371600"/>
          <a:ext cx="10881360" cy="3639312"/>
        </p:xfrm>
        <a:graphic>
          <a:graphicData uri="http://schemas.openxmlformats.org/drawingml/2006/table">
            <a:tbl>
              <a:tblPr firstRow="1" bandRow="1">
                <a:tableStyleId>{5C22544A-7EE6-4342-B048-85BDC9FD1C3A}</a:tableStyleId>
              </a:tblPr>
              <a:tblGrid>
                <a:gridCol w="453390">
                  <a:extLst>
                    <a:ext uri="{9D8B030D-6E8A-4147-A177-3AD203B41FA5}">
                      <a16:colId xmlns:a16="http://schemas.microsoft.com/office/drawing/2014/main" val="20000"/>
                    </a:ext>
                  </a:extLst>
                </a:gridCol>
                <a:gridCol w="3808476">
                  <a:extLst>
                    <a:ext uri="{9D8B030D-6E8A-4147-A177-3AD203B41FA5}">
                      <a16:colId xmlns:a16="http://schemas.microsoft.com/office/drawing/2014/main" val="20001"/>
                    </a:ext>
                  </a:extLst>
                </a:gridCol>
                <a:gridCol w="5259324">
                  <a:extLst>
                    <a:ext uri="{9D8B030D-6E8A-4147-A177-3AD203B41FA5}">
                      <a16:colId xmlns:a16="http://schemas.microsoft.com/office/drawing/2014/main" val="20002"/>
                    </a:ext>
                  </a:extLst>
                </a:gridCol>
                <a:gridCol w="1360170">
                  <a:extLst>
                    <a:ext uri="{9D8B030D-6E8A-4147-A177-3AD203B41FA5}">
                      <a16:colId xmlns:a16="http://schemas.microsoft.com/office/drawing/2014/main" val="20003"/>
                    </a:ext>
                  </a:extLst>
                </a:gridCol>
              </a:tblGrid>
              <a:tr h="404368">
                <a:tc>
                  <a:txBody>
                    <a:bodyPr/>
                    <a:lstStyle/>
                    <a:p>
                      <a:pPr algn="l"/>
                      <a:r>
                        <a:rPr sz="1300" b="1">
                          <a:solidFill>
                            <a:srgbClr val="FFFFFF"/>
                          </a:solidFill>
                          <a:latin typeface="Segoe UI"/>
                        </a:rPr>
                        <a:t>#</a:t>
                      </a:r>
                    </a:p>
                  </a:txBody>
                  <a:tcPr>
                    <a:solidFill>
                      <a:srgbClr val="1A1D24"/>
                    </a:solidFill>
                  </a:tcPr>
                </a:tc>
                <a:tc>
                  <a:txBody>
                    <a:bodyPr/>
                    <a:lstStyle/>
                    <a:p>
                      <a:pPr algn="ctr"/>
                      <a:r>
                        <a:rPr sz="1300" b="1">
                          <a:solidFill>
                            <a:srgbClr val="FFFFFF"/>
                          </a:solidFill>
                          <a:latin typeface="Segoe UI"/>
                        </a:rPr>
                        <a:t>Experiment</a:t>
                      </a:r>
                    </a:p>
                  </a:txBody>
                  <a:tcPr>
                    <a:solidFill>
                      <a:srgbClr val="1A1D24"/>
                    </a:solidFill>
                  </a:tcPr>
                </a:tc>
                <a:tc>
                  <a:txBody>
                    <a:bodyPr/>
                    <a:lstStyle/>
                    <a:p>
                      <a:pPr algn="ctr"/>
                      <a:r>
                        <a:rPr sz="1300" b="1">
                          <a:solidFill>
                            <a:srgbClr val="FFFFFF"/>
                          </a:solidFill>
                          <a:latin typeface="Segoe UI"/>
                        </a:rPr>
                        <a:t>Command</a:t>
                      </a:r>
                    </a:p>
                  </a:txBody>
                  <a:tcPr>
                    <a:solidFill>
                      <a:srgbClr val="1A1D24"/>
                    </a:solidFill>
                  </a:tcPr>
                </a:tc>
                <a:tc>
                  <a:txBody>
                    <a:bodyPr/>
                    <a:lstStyle/>
                    <a:p>
                      <a:pPr algn="ctr"/>
                      <a:r>
                        <a:rPr sz="1300" b="1">
                          <a:solidFill>
                            <a:srgbClr val="FFFFFF"/>
                          </a:solidFill>
                          <a:latin typeface="Segoe UI"/>
                        </a:rPr>
                        <a:t>GPU</a:t>
                      </a:r>
                    </a:p>
                  </a:txBody>
                  <a:tcPr>
                    <a:solidFill>
                      <a:srgbClr val="1A1D24"/>
                    </a:solidFill>
                  </a:tcPr>
                </a:tc>
                <a:extLst>
                  <a:ext uri="{0D108BD9-81ED-4DB2-BD59-A6C34878D82A}">
                    <a16:rowId xmlns:a16="http://schemas.microsoft.com/office/drawing/2014/main" val="10000"/>
                  </a:ext>
                </a:extLst>
              </a:tr>
              <a:tr h="404368">
                <a:tc>
                  <a:txBody>
                    <a:bodyPr/>
                    <a:lstStyle/>
                    <a:p>
                      <a:pPr algn="l"/>
                      <a:r>
                        <a:rPr sz="1300" b="0">
                          <a:solidFill>
                            <a:srgbClr val="1A1D24"/>
                          </a:solidFill>
                          <a:latin typeface="Segoe UI"/>
                        </a:rPr>
                        <a:t>0</a:t>
                      </a:r>
                    </a:p>
                  </a:txBody>
                  <a:tcPr>
                    <a:solidFill>
                      <a:srgbClr val="FFFFFF"/>
                    </a:solidFill>
                  </a:tcPr>
                </a:tc>
                <a:tc>
                  <a:txBody>
                    <a:bodyPr/>
                    <a:lstStyle/>
                    <a:p>
                      <a:pPr algn="ctr"/>
                      <a:r>
                        <a:rPr sz="1300" b="0">
                          <a:solidFill>
                            <a:srgbClr val="1A1D24"/>
                          </a:solidFill>
                          <a:latin typeface="Segoe UI"/>
                        </a:rPr>
                        <a:t>Is the latent at the right scale?</a:t>
                      </a:r>
                    </a:p>
                  </a:txBody>
                  <a:tcPr>
                    <a:solidFill>
                      <a:srgbClr val="FFFFFF"/>
                    </a:solidFill>
                  </a:tcPr>
                </a:tc>
                <a:tc>
                  <a:txBody>
                    <a:bodyPr/>
                    <a:lstStyle/>
                    <a:p>
                      <a:pPr algn="ctr"/>
                      <a:r>
                        <a:rPr sz="1300" b="0">
                          <a:solidFill>
                            <a:srgbClr val="1A1D24"/>
                          </a:solidFill>
                          <a:latin typeface="Segoe UI"/>
                        </a:rPr>
                        <a:t>python -m tools.diagnose_v0_scale --p0 &lt;ckpt&gt;</a:t>
                      </a:r>
                    </a:p>
                  </a:txBody>
                  <a:tcPr>
                    <a:solidFill>
                      <a:srgbClr val="FFFFFF"/>
                    </a:solidFill>
                  </a:tcPr>
                </a:tc>
                <a:tc>
                  <a:txBody>
                    <a:bodyPr/>
                    <a:lstStyle/>
                    <a:p>
                      <a:pPr algn="ctr"/>
                      <a:r>
                        <a:rPr sz="1300" b="0">
                          <a:solidFill>
                            <a:srgbClr val="1A1D24"/>
                          </a:solidFill>
                          <a:latin typeface="Segoe UI"/>
                        </a:rPr>
                        <a:t>10 min</a:t>
                      </a:r>
                    </a:p>
                  </a:txBody>
                  <a:tcPr>
                    <a:solidFill>
                      <a:srgbClr val="FFFFFF"/>
                    </a:solidFill>
                  </a:tcPr>
                </a:tc>
                <a:extLst>
                  <a:ext uri="{0D108BD9-81ED-4DB2-BD59-A6C34878D82A}">
                    <a16:rowId xmlns:a16="http://schemas.microsoft.com/office/drawing/2014/main" val="10001"/>
                  </a:ext>
                </a:extLst>
              </a:tr>
              <a:tr h="404368">
                <a:tc>
                  <a:txBody>
                    <a:bodyPr/>
                    <a:lstStyle/>
                    <a:p>
                      <a:pPr algn="l"/>
                      <a:r>
                        <a:rPr sz="1300" b="0">
                          <a:solidFill>
                            <a:srgbClr val="1A1D24"/>
                          </a:solidFill>
                          <a:latin typeface="Segoe UI"/>
                        </a:rPr>
                        <a:t>1</a:t>
                      </a:r>
                    </a:p>
                  </a:txBody>
                  <a:tcPr>
                    <a:solidFill>
                      <a:srgbClr val="F2F5F9"/>
                    </a:solidFill>
                  </a:tcPr>
                </a:tc>
                <a:tc>
                  <a:txBody>
                    <a:bodyPr/>
                    <a:lstStyle/>
                    <a:p>
                      <a:pPr algn="ctr"/>
                      <a:r>
                        <a:rPr sz="1300" b="0">
                          <a:solidFill>
                            <a:srgbClr val="1A1D24"/>
                          </a:solidFill>
                          <a:latin typeface="Segoe UI"/>
                        </a:rPr>
                        <a:t>Data ceiling  (DONE)</a:t>
                      </a:r>
                    </a:p>
                  </a:txBody>
                  <a:tcPr>
                    <a:solidFill>
                      <a:srgbClr val="F2F5F9"/>
                    </a:solidFill>
                  </a:tcPr>
                </a:tc>
                <a:tc>
                  <a:txBody>
                    <a:bodyPr/>
                    <a:lstStyle/>
                    <a:p>
                      <a:pPr algn="ctr"/>
                      <a:r>
                        <a:rPr sz="1300" b="0">
                          <a:solidFill>
                            <a:srgbClr val="1A1D24"/>
                          </a:solidFill>
                          <a:latin typeface="Segoe UI"/>
                        </a:rPr>
                        <a:t>python -m evaluation.ceiling</a:t>
                      </a:r>
                    </a:p>
                  </a:txBody>
                  <a:tcPr>
                    <a:solidFill>
                      <a:srgbClr val="F2F5F9"/>
                    </a:solidFill>
                  </a:tcPr>
                </a:tc>
                <a:tc>
                  <a:txBody>
                    <a:bodyPr/>
                    <a:lstStyle/>
                    <a:p>
                      <a:pPr algn="ctr"/>
                      <a:r>
                        <a:rPr sz="1300" b="0">
                          <a:solidFill>
                            <a:srgbClr val="1A1D24"/>
                          </a:solidFill>
                          <a:latin typeface="Segoe UI"/>
                        </a:rPr>
                        <a:t>none</a:t>
                      </a:r>
                    </a:p>
                  </a:txBody>
                  <a:tcPr>
                    <a:solidFill>
                      <a:srgbClr val="F2F5F9"/>
                    </a:solidFill>
                  </a:tcPr>
                </a:tc>
                <a:extLst>
                  <a:ext uri="{0D108BD9-81ED-4DB2-BD59-A6C34878D82A}">
                    <a16:rowId xmlns:a16="http://schemas.microsoft.com/office/drawing/2014/main" val="10002"/>
                  </a:ext>
                </a:extLst>
              </a:tr>
              <a:tr h="404368">
                <a:tc>
                  <a:txBody>
                    <a:bodyPr/>
                    <a:lstStyle/>
                    <a:p>
                      <a:pPr algn="l"/>
                      <a:r>
                        <a:rPr sz="1300" b="0">
                          <a:solidFill>
                            <a:srgbClr val="1A1D24"/>
                          </a:solidFill>
                          <a:latin typeface="Segoe UI"/>
                        </a:rPr>
                        <a:t>2</a:t>
                      </a:r>
                    </a:p>
                  </a:txBody>
                  <a:tcPr>
                    <a:solidFill>
                      <a:srgbClr val="FFFFFF"/>
                    </a:solidFill>
                  </a:tcPr>
                </a:tc>
                <a:tc>
                  <a:txBody>
                    <a:bodyPr/>
                    <a:lstStyle/>
                    <a:p>
                      <a:pPr algn="ctr"/>
                      <a:r>
                        <a:rPr sz="1300" b="0">
                          <a:solidFill>
                            <a:srgbClr val="1A1D24"/>
                          </a:solidFill>
                          <a:latin typeface="Segoe UI"/>
                        </a:rPr>
                        <a:t>Does a plain model already do this?</a:t>
                      </a:r>
                    </a:p>
                  </a:txBody>
                  <a:tcPr>
                    <a:solidFill>
                      <a:srgbClr val="FFFFFF"/>
                    </a:solidFill>
                  </a:tcPr>
                </a:tc>
                <a:tc>
                  <a:txBody>
                    <a:bodyPr/>
                    <a:lstStyle/>
                    <a:p>
                      <a:pPr algn="ctr"/>
                      <a:r>
                        <a:rPr sz="1300" b="0">
                          <a:solidFill>
                            <a:srgbClr val="1A1D24"/>
                          </a:solidFill>
                          <a:latin typeface="Segoe UI"/>
                        </a:rPr>
                        <a:t>python -m baselines.level_token</a:t>
                      </a:r>
                    </a:p>
                  </a:txBody>
                  <a:tcPr>
                    <a:solidFill>
                      <a:srgbClr val="FFFFFF"/>
                    </a:solidFill>
                  </a:tcPr>
                </a:tc>
                <a:tc>
                  <a:txBody>
                    <a:bodyPr/>
                    <a:lstStyle/>
                    <a:p>
                      <a:pPr algn="ctr"/>
                      <a:r>
                        <a:rPr sz="1300" b="0">
                          <a:solidFill>
                            <a:srgbClr val="1A1D24"/>
                          </a:solidFill>
                          <a:latin typeface="Segoe UI"/>
                        </a:rPr>
                        <a:t>~1 h</a:t>
                      </a:r>
                    </a:p>
                  </a:txBody>
                  <a:tcPr>
                    <a:solidFill>
                      <a:srgbClr val="FFFFFF"/>
                    </a:solidFill>
                  </a:tcPr>
                </a:tc>
                <a:extLst>
                  <a:ext uri="{0D108BD9-81ED-4DB2-BD59-A6C34878D82A}">
                    <a16:rowId xmlns:a16="http://schemas.microsoft.com/office/drawing/2014/main" val="10003"/>
                  </a:ext>
                </a:extLst>
              </a:tr>
              <a:tr h="404368">
                <a:tc>
                  <a:txBody>
                    <a:bodyPr/>
                    <a:lstStyle/>
                    <a:p>
                      <a:pPr algn="l"/>
                      <a:r>
                        <a:rPr sz="1300" b="0">
                          <a:solidFill>
                            <a:srgbClr val="1A1D24"/>
                          </a:solidFill>
                          <a:latin typeface="Segoe UI"/>
                        </a:rPr>
                        <a:t>3</a:t>
                      </a:r>
                    </a:p>
                  </a:txBody>
                  <a:tcPr>
                    <a:solidFill>
                      <a:srgbClr val="F2F5F9"/>
                    </a:solidFill>
                  </a:tcPr>
                </a:tc>
                <a:tc>
                  <a:txBody>
                    <a:bodyPr/>
                    <a:lstStyle/>
                    <a:p>
                      <a:pPr algn="ctr"/>
                      <a:r>
                        <a:rPr sz="1300" b="0">
                          <a:solidFill>
                            <a:srgbClr val="1A1D24"/>
                          </a:solidFill>
                          <a:latin typeface="Segoe UI"/>
                        </a:rPr>
                        <a:t>Train the autoencoder</a:t>
                      </a:r>
                    </a:p>
                  </a:txBody>
                  <a:tcPr>
                    <a:solidFill>
                      <a:srgbClr val="F2F5F9"/>
                    </a:solidFill>
                  </a:tcPr>
                </a:tc>
                <a:tc>
                  <a:txBody>
                    <a:bodyPr/>
                    <a:lstStyle/>
                    <a:p>
                      <a:pPr algn="ctr"/>
                      <a:r>
                        <a:rPr sz="1300" b="0">
                          <a:solidFill>
                            <a:srgbClr val="1A1D24"/>
                          </a:solidFill>
                          <a:latin typeface="Segoe UI"/>
                        </a:rPr>
                        <a:t>python -m training.train_p0 --preset full</a:t>
                      </a:r>
                    </a:p>
                  </a:txBody>
                  <a:tcPr>
                    <a:solidFill>
                      <a:srgbClr val="F2F5F9"/>
                    </a:solidFill>
                  </a:tcPr>
                </a:tc>
                <a:tc>
                  <a:txBody>
                    <a:bodyPr/>
                    <a:lstStyle/>
                    <a:p>
                      <a:pPr algn="ctr"/>
                      <a:r>
                        <a:rPr sz="1300" b="0">
                          <a:solidFill>
                            <a:srgbClr val="1A1D24"/>
                          </a:solidFill>
                          <a:latin typeface="Segoe UI"/>
                        </a:rPr>
                        <a:t>2-3 h</a:t>
                      </a:r>
                    </a:p>
                  </a:txBody>
                  <a:tcPr>
                    <a:solidFill>
                      <a:srgbClr val="F2F5F9"/>
                    </a:solidFill>
                  </a:tcPr>
                </a:tc>
                <a:extLst>
                  <a:ext uri="{0D108BD9-81ED-4DB2-BD59-A6C34878D82A}">
                    <a16:rowId xmlns:a16="http://schemas.microsoft.com/office/drawing/2014/main" val="10004"/>
                  </a:ext>
                </a:extLst>
              </a:tr>
              <a:tr h="404368">
                <a:tc>
                  <a:txBody>
                    <a:bodyPr/>
                    <a:lstStyle/>
                    <a:p>
                      <a:pPr algn="l"/>
                      <a:r>
                        <a:rPr sz="1300" b="0">
                          <a:solidFill>
                            <a:srgbClr val="1A1D24"/>
                          </a:solidFill>
                          <a:latin typeface="Segoe UI"/>
                        </a:rPr>
                        <a:t>4</a:t>
                      </a:r>
                    </a:p>
                  </a:txBody>
                  <a:tcPr>
                    <a:solidFill>
                      <a:srgbClr val="FFFFFF"/>
                    </a:solidFill>
                  </a:tcPr>
                </a:tc>
                <a:tc>
                  <a:txBody>
                    <a:bodyPr/>
                    <a:lstStyle/>
                    <a:p>
                      <a:pPr algn="ctr"/>
                      <a:r>
                        <a:rPr sz="1300" b="0">
                          <a:solidFill>
                            <a:srgbClr val="1A1D24"/>
                          </a:solidFill>
                          <a:latin typeface="Segoe UI"/>
                        </a:rPr>
                        <a:t>Train the denoiser</a:t>
                      </a:r>
                    </a:p>
                  </a:txBody>
                  <a:tcPr>
                    <a:solidFill>
                      <a:srgbClr val="FFFFFF"/>
                    </a:solidFill>
                  </a:tcPr>
                </a:tc>
                <a:tc>
                  <a:txBody>
                    <a:bodyPr/>
                    <a:lstStyle/>
                    <a:p>
                      <a:pPr algn="ctr"/>
                      <a:r>
                        <a:rPr sz="1300" b="0">
                          <a:solidFill>
                            <a:srgbClr val="1A1D24"/>
                          </a:solidFill>
                          <a:latin typeface="Segoe UI"/>
                        </a:rPr>
                        <a:t>python -m training.train_p1 --p0-checkpoint ...</a:t>
                      </a:r>
                    </a:p>
                  </a:txBody>
                  <a:tcPr>
                    <a:solidFill>
                      <a:srgbClr val="FFFFFF"/>
                    </a:solidFill>
                  </a:tcPr>
                </a:tc>
                <a:tc>
                  <a:txBody>
                    <a:bodyPr/>
                    <a:lstStyle/>
                    <a:p>
                      <a:pPr algn="ctr"/>
                      <a:r>
                        <a:rPr sz="1300" b="0">
                          <a:solidFill>
                            <a:srgbClr val="1A1D24"/>
                          </a:solidFill>
                          <a:latin typeface="Segoe UI"/>
                        </a:rPr>
                        <a:t>&lt;0.5 h</a:t>
                      </a:r>
                    </a:p>
                  </a:txBody>
                  <a:tcPr>
                    <a:solidFill>
                      <a:srgbClr val="FFFFFF"/>
                    </a:solidFill>
                  </a:tcPr>
                </a:tc>
                <a:extLst>
                  <a:ext uri="{0D108BD9-81ED-4DB2-BD59-A6C34878D82A}">
                    <a16:rowId xmlns:a16="http://schemas.microsoft.com/office/drawing/2014/main" val="10005"/>
                  </a:ext>
                </a:extLst>
              </a:tr>
              <a:tr h="404368">
                <a:tc>
                  <a:txBody>
                    <a:bodyPr/>
                    <a:lstStyle/>
                    <a:p>
                      <a:pPr algn="l"/>
                      <a:r>
                        <a:rPr sz="1300" b="0">
                          <a:solidFill>
                            <a:srgbClr val="1A1D24"/>
                          </a:solidFill>
                          <a:latin typeface="Segoe UI"/>
                        </a:rPr>
                        <a:t>5</a:t>
                      </a:r>
                    </a:p>
                  </a:txBody>
                  <a:tcPr>
                    <a:solidFill>
                      <a:srgbClr val="F2F5F9"/>
                    </a:solidFill>
                  </a:tcPr>
                </a:tc>
                <a:tc>
                  <a:txBody>
                    <a:bodyPr/>
                    <a:lstStyle/>
                    <a:p>
                      <a:pPr algn="ctr"/>
                      <a:r>
                        <a:rPr sz="1300" b="0">
                          <a:solidFill>
                            <a:srgbClr val="1A1D24"/>
                          </a:solidFill>
                          <a:latin typeface="Segoe UI"/>
                        </a:rPr>
                        <a:t>Train the projection + reader</a:t>
                      </a:r>
                    </a:p>
                  </a:txBody>
                  <a:tcPr>
                    <a:solidFill>
                      <a:srgbClr val="F2F5F9"/>
                    </a:solidFill>
                  </a:tcPr>
                </a:tc>
                <a:tc>
                  <a:txBody>
                    <a:bodyPr/>
                    <a:lstStyle/>
                    <a:p>
                      <a:pPr algn="ctr"/>
                      <a:r>
                        <a:rPr sz="1300" b="0">
                          <a:solidFill>
                            <a:srgbClr val="1A1D24"/>
                          </a:solidFill>
                          <a:latin typeface="Segoe UI"/>
                        </a:rPr>
                        <a:t>python -m training.train_p2 --p0-... --p1-...</a:t>
                      </a:r>
                    </a:p>
                  </a:txBody>
                  <a:tcPr>
                    <a:solidFill>
                      <a:srgbClr val="F2F5F9"/>
                    </a:solidFill>
                  </a:tcPr>
                </a:tc>
                <a:tc>
                  <a:txBody>
                    <a:bodyPr/>
                    <a:lstStyle/>
                    <a:p>
                      <a:pPr algn="ctr"/>
                      <a:r>
                        <a:rPr sz="1300" b="0">
                          <a:solidFill>
                            <a:srgbClr val="1A1D24"/>
                          </a:solidFill>
                          <a:latin typeface="Segoe UI"/>
                        </a:rPr>
                        <a:t>~2 h</a:t>
                      </a:r>
                    </a:p>
                  </a:txBody>
                  <a:tcPr>
                    <a:solidFill>
                      <a:srgbClr val="F2F5F9"/>
                    </a:solidFill>
                  </a:tcPr>
                </a:tc>
                <a:extLst>
                  <a:ext uri="{0D108BD9-81ED-4DB2-BD59-A6C34878D82A}">
                    <a16:rowId xmlns:a16="http://schemas.microsoft.com/office/drawing/2014/main" val="10006"/>
                  </a:ext>
                </a:extLst>
              </a:tr>
              <a:tr h="404368">
                <a:tc>
                  <a:txBody>
                    <a:bodyPr/>
                    <a:lstStyle/>
                    <a:p>
                      <a:pPr algn="l"/>
                      <a:r>
                        <a:rPr sz="1300" b="0">
                          <a:solidFill>
                            <a:srgbClr val="1A1D24"/>
                          </a:solidFill>
                          <a:latin typeface="Segoe UI"/>
                        </a:rPr>
                        <a:t>6</a:t>
                      </a:r>
                    </a:p>
                  </a:txBody>
                  <a:tcPr>
                    <a:solidFill>
                      <a:srgbClr val="FFFFFF"/>
                    </a:solidFill>
                  </a:tcPr>
                </a:tc>
                <a:tc>
                  <a:txBody>
                    <a:bodyPr/>
                    <a:lstStyle/>
                    <a:p>
                      <a:pPr algn="ctr"/>
                      <a:r>
                        <a:rPr sz="1300" b="0">
                          <a:solidFill>
                            <a:srgbClr val="1A1D24"/>
                          </a:solidFill>
                          <a:latin typeface="Segoe UI"/>
                        </a:rPr>
                        <a:t>Score it</a:t>
                      </a:r>
                    </a:p>
                  </a:txBody>
                  <a:tcPr>
                    <a:solidFill>
                      <a:srgbClr val="FFFFFF"/>
                    </a:solidFill>
                  </a:tcPr>
                </a:tc>
                <a:tc>
                  <a:txBody>
                    <a:bodyPr/>
                    <a:lstStyle/>
                    <a:p>
                      <a:pPr algn="ctr"/>
                      <a:r>
                        <a:rPr sz="1300" b="0">
                          <a:solidFill>
                            <a:srgbClr val="1A1D24"/>
                          </a:solidFill>
                          <a:latin typeface="Segoe UI"/>
                        </a:rPr>
                        <a:t>python -m evaluation.evaluate --p0 ... --p1 ... --p2 ...</a:t>
                      </a:r>
                    </a:p>
                  </a:txBody>
                  <a:tcPr>
                    <a:solidFill>
                      <a:srgbClr val="FFFFFF"/>
                    </a:solidFill>
                  </a:tcPr>
                </a:tc>
                <a:tc>
                  <a:txBody>
                    <a:bodyPr/>
                    <a:lstStyle/>
                    <a:p>
                      <a:pPr algn="ctr"/>
                      <a:r>
                        <a:rPr sz="1300" b="0">
                          <a:solidFill>
                            <a:srgbClr val="1A1D24"/>
                          </a:solidFill>
                          <a:latin typeface="Segoe UI"/>
                        </a:rPr>
                        <a:t>~1 h</a:t>
                      </a:r>
                    </a:p>
                  </a:txBody>
                  <a:tcPr>
                    <a:solidFill>
                      <a:srgbClr val="FFFFFF"/>
                    </a:solidFill>
                  </a:tcPr>
                </a:tc>
                <a:extLst>
                  <a:ext uri="{0D108BD9-81ED-4DB2-BD59-A6C34878D82A}">
                    <a16:rowId xmlns:a16="http://schemas.microsoft.com/office/drawing/2014/main" val="10007"/>
                  </a:ext>
                </a:extLst>
              </a:tr>
              <a:tr h="404368">
                <a:tc>
                  <a:txBody>
                    <a:bodyPr/>
                    <a:lstStyle/>
                    <a:p>
                      <a:pPr algn="l"/>
                      <a:r>
                        <a:rPr sz="1300" b="0">
                          <a:solidFill>
                            <a:srgbClr val="1A1D24"/>
                          </a:solidFill>
                          <a:latin typeface="Segoe UI"/>
                        </a:rPr>
                        <a:t>7</a:t>
                      </a:r>
                    </a:p>
                  </a:txBody>
                  <a:tcPr>
                    <a:solidFill>
                      <a:srgbClr val="F2F5F9"/>
                    </a:solidFill>
                  </a:tcPr>
                </a:tc>
                <a:tc>
                  <a:txBody>
                    <a:bodyPr/>
                    <a:lstStyle/>
                    <a:p>
                      <a:pPr algn="ctr"/>
                      <a:r>
                        <a:rPr sz="1300" b="0">
                          <a:solidFill>
                            <a:srgbClr val="1A1D24"/>
                          </a:solidFill>
                          <a:latin typeface="Segoe UI"/>
                        </a:rPr>
                        <a:t>Ablations (cue, slots, brackets)</a:t>
                      </a:r>
                    </a:p>
                  </a:txBody>
                  <a:tcPr>
                    <a:solidFill>
                      <a:srgbClr val="F2F5F9"/>
                    </a:solidFill>
                  </a:tcPr>
                </a:tc>
                <a:tc>
                  <a:txBody>
                    <a:bodyPr/>
                    <a:lstStyle/>
                    <a:p>
                      <a:pPr algn="ctr"/>
                      <a:r>
                        <a:rPr sz="1300" b="0">
                          <a:solidFill>
                            <a:srgbClr val="1A1D24"/>
                          </a:solidFill>
                          <a:latin typeface="Segoe UI"/>
                        </a:rPr>
                        <a:t>python -m ablations.runner --only ...</a:t>
                      </a:r>
                    </a:p>
                  </a:txBody>
                  <a:tcPr>
                    <a:solidFill>
                      <a:srgbClr val="F2F5F9"/>
                    </a:solidFill>
                  </a:tcPr>
                </a:tc>
                <a:tc>
                  <a:txBody>
                    <a:bodyPr/>
                    <a:lstStyle/>
                    <a:p>
                      <a:pPr algn="ctr"/>
                      <a:r>
                        <a:rPr sz="1300" b="0">
                          <a:solidFill>
                            <a:srgbClr val="1A1D24"/>
                          </a:solidFill>
                          <a:latin typeface="Segoe UI"/>
                        </a:rPr>
                        <a:t>~15 h</a:t>
                      </a:r>
                    </a:p>
                  </a:txBody>
                  <a:tcPr>
                    <a:solidFill>
                      <a:srgbClr val="F2F5F9"/>
                    </a:solidFill>
                  </a:tcPr>
                </a:tc>
                <a:extLst>
                  <a:ext uri="{0D108BD9-81ED-4DB2-BD59-A6C34878D82A}">
                    <a16:rowId xmlns:a16="http://schemas.microsoft.com/office/drawing/2014/main" val="10008"/>
                  </a:ext>
                </a:extLst>
              </a:tr>
            </a:tbl>
          </a:graphicData>
        </a:graphic>
      </p:graphicFrame>
      <p:sp>
        <p:nvSpPr>
          <p:cNvPr id="5" name="TextBox 4"/>
          <p:cNvSpPr txBox="1"/>
          <p:nvPr/>
        </p:nvSpPr>
        <p:spPr>
          <a:xfrm>
            <a:off x="640080" y="5056632"/>
            <a:ext cx="10881360" cy="914400"/>
          </a:xfrm>
          <a:prstGeom prst="rect">
            <a:avLst/>
          </a:prstGeom>
          <a:noFill/>
        </p:spPr>
        <p:txBody>
          <a:bodyPr wrap="square">
            <a:spAutoFit/>
          </a:bodyPr>
          <a:lstStyle/>
          <a:p>
            <a:pPr algn="l">
              <a:lnSpc>
                <a:spcPct val="115000"/>
              </a:lnSpc>
              <a:spcAft>
                <a:spcPts val="600"/>
              </a:spcAft>
            </a:pPr>
            <a:r>
              <a:rPr sz="1500" b="0">
                <a:solidFill>
                  <a:srgbClr val="5F6B7A"/>
                </a:solidFill>
                <a:latin typeface="Segoe UI"/>
              </a:rPr>
              <a:t>Experiment 2 is a decision point: if a plain 'level 3: &lt;sentence&gt;' model matches us on USABLE, the diffusion machinery is not justified on this task and we pivot to the question-answering setting instead.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881360" cy="640080"/>
          </a:xfrm>
          <a:prstGeom prst="rect">
            <a:avLst/>
          </a:prstGeom>
          <a:noFill/>
        </p:spPr>
        <p:txBody>
          <a:bodyPr wrap="square">
            <a:spAutoFit/>
          </a:bodyPr>
          <a:lstStyle/>
          <a:p>
            <a:pPr algn="l">
              <a:lnSpc>
                <a:spcPct val="115000"/>
              </a:lnSpc>
              <a:spcAft>
                <a:spcPts val="600"/>
              </a:spcAft>
            </a:pPr>
            <a:r>
              <a:rPr sz="2800" b="1">
                <a:solidFill>
                  <a:srgbClr val="1A1D24"/>
                </a:solidFill>
                <a:latin typeface="Segoe UI"/>
              </a:rPr>
              <a:t>Three moments where we stop and reconsider</a:t>
            </a:r>
          </a:p>
        </p:txBody>
      </p:sp>
      <p:sp>
        <p:nvSpPr>
          <p:cNvPr id="3" name="Rectangle 2"/>
          <p:cNvSpPr/>
          <p:nvPr/>
        </p:nvSpPr>
        <p:spPr>
          <a:xfrm>
            <a:off x="640080" y="1051560"/>
            <a:ext cx="1463040" cy="38100"/>
          </a:xfrm>
          <a:prstGeom prst="rect">
            <a:avLst/>
          </a:prstGeom>
          <a:solidFill>
            <a:srgbClr val="1F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371600"/>
            <a:ext cx="10789920" cy="4297680"/>
          </a:xfrm>
          <a:prstGeom prst="rect">
            <a:avLst/>
          </a:prstGeom>
          <a:noFill/>
        </p:spPr>
        <p:txBody>
          <a:bodyPr wrap="square">
            <a:spAutoFit/>
          </a:bodyPr>
          <a:lstStyle/>
          <a:p>
            <a:pPr algn="l">
              <a:lnSpc>
                <a:spcPct val="115000"/>
              </a:lnSpc>
              <a:spcAft>
                <a:spcPts val="1000"/>
              </a:spcAft>
            </a:pPr>
            <a:r>
              <a:rPr sz="1800" b="0">
                <a:solidFill>
                  <a:srgbClr val="1A1D24"/>
                </a:solidFill>
                <a:latin typeface="Segoe UI"/>
              </a:rPr>
              <a:t>GATE 0 — is the stored vector the right size? If it is far from 1, forgetting will happen all at once instead of gradually. Ten minutes, and it may explain the old 'cliff' behaviour entirely.</a:t>
            </a:r>
          </a:p>
          <a:p>
            <a:pPr algn="l">
              <a:lnSpc>
                <a:spcPct val="115000"/>
              </a:lnSpc>
              <a:spcAft>
                <a:spcPts val="1000"/>
              </a:spcAft>
            </a:pPr>
            <a:endParaRPr sz="1800" b="0">
              <a:solidFill>
                <a:srgbClr val="1A1D24"/>
              </a:solidFill>
              <a:latin typeface="Segoe UI"/>
            </a:endParaRPr>
          </a:p>
          <a:p>
            <a:pPr algn="l">
              <a:lnSpc>
                <a:spcPct val="115000"/>
              </a:lnSpc>
              <a:spcAft>
                <a:spcPts val="1000"/>
              </a:spcAft>
            </a:pPr>
            <a:r>
              <a:rPr sz="1800" b="0">
                <a:solidFill>
                  <a:srgbClr val="1A1D24"/>
                </a:solidFill>
                <a:latin typeface="Segoe UI"/>
              </a:rPr>
              <a:t>GATE 1 — DONE. Data ceiling is 0.92 against our 0.325, so the problem is ours, not the data's. Proceed.</a:t>
            </a:r>
          </a:p>
          <a:p>
            <a:pPr algn="l">
              <a:lnSpc>
                <a:spcPct val="115000"/>
              </a:lnSpc>
              <a:spcAft>
                <a:spcPts val="1000"/>
              </a:spcAft>
            </a:pPr>
            <a:endParaRPr sz="1800" b="0">
              <a:solidFill>
                <a:srgbClr val="1A1D24"/>
              </a:solidFill>
              <a:latin typeface="Segoe UI"/>
            </a:endParaRPr>
          </a:p>
          <a:p>
            <a:pPr algn="l">
              <a:lnSpc>
                <a:spcPct val="115000"/>
              </a:lnSpc>
              <a:spcAft>
                <a:spcPts val="1000"/>
              </a:spcAft>
            </a:pPr>
            <a:r>
              <a:rPr sz="1800" b="0">
                <a:solidFill>
                  <a:srgbClr val="1A1D24"/>
                </a:solidFill>
                <a:latin typeface="Segoe UI"/>
              </a:rPr>
              <a:t>GATE 2 — does the simple baseline already win? One GPU-hour. If yes, we change the claim rather than spend a month finding out.</a:t>
            </a:r>
          </a:p>
          <a:p>
            <a:pPr algn="l">
              <a:lnSpc>
                <a:spcPct val="115000"/>
              </a:lnSpc>
              <a:spcAft>
                <a:spcPts val="1000"/>
              </a:spcAft>
            </a:pPr>
            <a:endParaRPr sz="1800" b="0">
              <a:solidFill>
                <a:srgbClr val="1A1D24"/>
              </a:solidFill>
              <a:latin typeface="Segoe UI"/>
            </a:endParaRPr>
          </a:p>
          <a:p>
            <a:pPr algn="l">
              <a:lnSpc>
                <a:spcPct val="115000"/>
              </a:lnSpc>
              <a:spcAft>
                <a:spcPts val="1000"/>
              </a:spcAft>
            </a:pPr>
            <a:r>
              <a:rPr sz="1800" b="0">
                <a:solidFill>
                  <a:srgbClr val="1A1D24"/>
                </a:solidFill>
                <a:latin typeface="Segoe UI"/>
              </a:rPr>
              <a:t>GATE 3 — shuffle the gist between examples. If recall barely changes, the gist is decorative and the whole cue story is dead. Twelve minutes.</a:t>
            </a:r>
          </a:p>
        </p:txBody>
      </p:sp>
      <p:sp>
        <p:nvSpPr>
          <p:cNvPr id="5" name="TextBox 4"/>
          <p:cNvSpPr txBox="1"/>
          <p:nvPr/>
        </p:nvSpPr>
        <p:spPr>
          <a:xfrm>
            <a:off x="685800" y="5806440"/>
            <a:ext cx="10789920" cy="731520"/>
          </a:xfrm>
          <a:prstGeom prst="rect">
            <a:avLst/>
          </a:prstGeom>
          <a:noFill/>
        </p:spPr>
        <p:txBody>
          <a:bodyPr wrap="square">
            <a:spAutoFit/>
          </a:bodyPr>
          <a:lstStyle/>
          <a:p>
            <a:pPr algn="l">
              <a:lnSpc>
                <a:spcPct val="115000"/>
              </a:lnSpc>
              <a:spcAft>
                <a:spcPts val="600"/>
              </a:spcAft>
            </a:pPr>
            <a:r>
              <a:rPr sz="1500" b="0">
                <a:solidFill>
                  <a:srgbClr val="5F6B7A"/>
                </a:solidFill>
                <a:latin typeface="Segoe UI"/>
              </a:rPr>
              <a:t>Each gate is cheap and each can save weeks. Gate 3 is the one that could most embarrass us in review, so we run it first among the trained ones.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881360" cy="640080"/>
          </a:xfrm>
          <a:prstGeom prst="rect">
            <a:avLst/>
          </a:prstGeom>
          <a:noFill/>
        </p:spPr>
        <p:txBody>
          <a:bodyPr wrap="square">
            <a:spAutoFit/>
          </a:bodyPr>
          <a:lstStyle/>
          <a:p>
            <a:pPr algn="l">
              <a:lnSpc>
                <a:spcPct val="115000"/>
              </a:lnSpc>
              <a:spcAft>
                <a:spcPts val="600"/>
              </a:spcAft>
            </a:pPr>
            <a:r>
              <a:rPr sz="2800" b="1">
                <a:solidFill>
                  <a:srgbClr val="1A1D24"/>
                </a:solidFill>
                <a:latin typeface="Segoe UI"/>
              </a:rPr>
              <a:t>What it costs</a:t>
            </a:r>
          </a:p>
        </p:txBody>
      </p:sp>
      <p:sp>
        <p:nvSpPr>
          <p:cNvPr id="3" name="Rectangle 2"/>
          <p:cNvSpPr/>
          <p:nvPr/>
        </p:nvSpPr>
        <p:spPr>
          <a:xfrm>
            <a:off x="640080" y="1051560"/>
            <a:ext cx="1463040" cy="38100"/>
          </a:xfrm>
          <a:prstGeom prst="rect">
            <a:avLst/>
          </a:prstGeom>
          <a:solidFill>
            <a:srgbClr val="1F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640080" y="1371600"/>
          <a:ext cx="10881359" cy="2487168"/>
        </p:xfrm>
        <a:graphic>
          <a:graphicData uri="http://schemas.openxmlformats.org/drawingml/2006/table">
            <a:tbl>
              <a:tblPr firstRow="1" bandRow="1">
                <a:tableStyleId>{5C22544A-7EE6-4342-B048-85BDC9FD1C3A}</a:tableStyleId>
              </a:tblPr>
              <a:tblGrid>
                <a:gridCol w="3766624">
                  <a:extLst>
                    <a:ext uri="{9D8B030D-6E8A-4147-A177-3AD203B41FA5}">
                      <a16:colId xmlns:a16="http://schemas.microsoft.com/office/drawing/2014/main" val="20000"/>
                    </a:ext>
                  </a:extLst>
                </a:gridCol>
                <a:gridCol w="2092569">
                  <a:extLst>
                    <a:ext uri="{9D8B030D-6E8A-4147-A177-3AD203B41FA5}">
                      <a16:colId xmlns:a16="http://schemas.microsoft.com/office/drawing/2014/main" val="20001"/>
                    </a:ext>
                  </a:extLst>
                </a:gridCol>
                <a:gridCol w="5022166">
                  <a:extLst>
                    <a:ext uri="{9D8B030D-6E8A-4147-A177-3AD203B41FA5}">
                      <a16:colId xmlns:a16="http://schemas.microsoft.com/office/drawing/2014/main" val="20002"/>
                    </a:ext>
                  </a:extLst>
                </a:gridCol>
              </a:tblGrid>
              <a:tr h="414528">
                <a:tc>
                  <a:txBody>
                    <a:bodyPr/>
                    <a:lstStyle/>
                    <a:p>
                      <a:pPr algn="l"/>
                      <a:r>
                        <a:rPr sz="1400" b="1">
                          <a:solidFill>
                            <a:srgbClr val="FFFFFF"/>
                          </a:solidFill>
                          <a:latin typeface="Segoe UI"/>
                        </a:rPr>
                        <a:t>Item</a:t>
                      </a:r>
                    </a:p>
                  </a:txBody>
                  <a:tcPr>
                    <a:solidFill>
                      <a:srgbClr val="1A1D24"/>
                    </a:solidFill>
                  </a:tcPr>
                </a:tc>
                <a:tc>
                  <a:txBody>
                    <a:bodyPr/>
                    <a:lstStyle/>
                    <a:p>
                      <a:pPr algn="ctr"/>
                      <a:r>
                        <a:rPr sz="1400" b="1">
                          <a:solidFill>
                            <a:srgbClr val="FFFFFF"/>
                          </a:solidFill>
                          <a:latin typeface="Segoe UI"/>
                        </a:rPr>
                        <a:t>Amount</a:t>
                      </a:r>
                    </a:p>
                  </a:txBody>
                  <a:tcPr>
                    <a:solidFill>
                      <a:srgbClr val="1A1D24"/>
                    </a:solidFill>
                  </a:tcPr>
                </a:tc>
                <a:tc>
                  <a:txBody>
                    <a:bodyPr/>
                    <a:lstStyle/>
                    <a:p>
                      <a:pPr algn="ctr"/>
                      <a:r>
                        <a:rPr sz="1400" b="1">
                          <a:solidFill>
                            <a:srgbClr val="FFFFFF"/>
                          </a:solidFill>
                          <a:latin typeface="Segoe UI"/>
                        </a:rPr>
                        <a:t>Notes</a:t>
                      </a:r>
                    </a:p>
                  </a:txBody>
                  <a:tcPr>
                    <a:solidFill>
                      <a:srgbClr val="1A1D24"/>
                    </a:solidFill>
                  </a:tcPr>
                </a:tc>
                <a:extLst>
                  <a:ext uri="{0D108BD9-81ED-4DB2-BD59-A6C34878D82A}">
                    <a16:rowId xmlns:a16="http://schemas.microsoft.com/office/drawing/2014/main" val="10000"/>
                  </a:ext>
                </a:extLst>
              </a:tr>
              <a:tr h="414528">
                <a:tc>
                  <a:txBody>
                    <a:bodyPr/>
                    <a:lstStyle/>
                    <a:p>
                      <a:pPr algn="l"/>
                      <a:r>
                        <a:rPr sz="1400" b="0">
                          <a:solidFill>
                            <a:srgbClr val="1A1D24"/>
                          </a:solidFill>
                          <a:latin typeface="Segoe UI"/>
                        </a:rPr>
                        <a:t>Total GPU time</a:t>
                      </a:r>
                    </a:p>
                  </a:txBody>
                  <a:tcPr>
                    <a:solidFill>
                      <a:srgbClr val="FFFFFF"/>
                    </a:solidFill>
                  </a:tcPr>
                </a:tc>
                <a:tc>
                  <a:txBody>
                    <a:bodyPr/>
                    <a:lstStyle/>
                    <a:p>
                      <a:pPr algn="ctr"/>
                      <a:r>
                        <a:rPr sz="1400" b="0">
                          <a:solidFill>
                            <a:srgbClr val="1A1D24"/>
                          </a:solidFill>
                          <a:latin typeface="Segoe UI"/>
                        </a:rPr>
                        <a:t>150-220 hours</a:t>
                      </a:r>
                    </a:p>
                  </a:txBody>
                  <a:tcPr>
                    <a:solidFill>
                      <a:srgbClr val="FFFFFF"/>
                    </a:solidFill>
                  </a:tcPr>
                </a:tc>
                <a:tc>
                  <a:txBody>
                    <a:bodyPr/>
                    <a:lstStyle/>
                    <a:p>
                      <a:pPr algn="ctr"/>
                      <a:r>
                        <a:rPr sz="1400" b="0">
                          <a:solidFill>
                            <a:srgbClr val="1A1D24"/>
                          </a:solidFill>
                          <a:latin typeface="Segoe UI"/>
                        </a:rPr>
                        <a:t>Everything: main runs, baselines, ablations, failures</a:t>
                      </a:r>
                    </a:p>
                  </a:txBody>
                  <a:tcPr>
                    <a:solidFill>
                      <a:srgbClr val="FFFFFF"/>
                    </a:solidFill>
                  </a:tcPr>
                </a:tc>
                <a:extLst>
                  <a:ext uri="{0D108BD9-81ED-4DB2-BD59-A6C34878D82A}">
                    <a16:rowId xmlns:a16="http://schemas.microsoft.com/office/drawing/2014/main" val="10001"/>
                  </a:ext>
                </a:extLst>
              </a:tr>
              <a:tr h="414528">
                <a:tc>
                  <a:txBody>
                    <a:bodyPr/>
                    <a:lstStyle/>
                    <a:p>
                      <a:pPr algn="l"/>
                      <a:r>
                        <a:rPr sz="1400" b="0">
                          <a:solidFill>
                            <a:srgbClr val="1A1D24"/>
                          </a:solidFill>
                          <a:latin typeface="Segoe UI"/>
                        </a:rPr>
                        <a:t>On a cheap cloud GPU (T4, spot)</a:t>
                      </a:r>
                    </a:p>
                  </a:txBody>
                  <a:tcPr>
                    <a:solidFill>
                      <a:srgbClr val="F2F5F9"/>
                    </a:solidFill>
                  </a:tcPr>
                </a:tc>
                <a:tc>
                  <a:txBody>
                    <a:bodyPr/>
                    <a:lstStyle/>
                    <a:p>
                      <a:pPr algn="ctr"/>
                      <a:r>
                        <a:rPr sz="1400" b="0">
                          <a:solidFill>
                            <a:srgbClr val="1A1D24"/>
                          </a:solidFill>
                          <a:latin typeface="Segoe UI"/>
                        </a:rPr>
                        <a:t>$25 - $35</a:t>
                      </a:r>
                    </a:p>
                  </a:txBody>
                  <a:tcPr>
                    <a:solidFill>
                      <a:srgbClr val="F2F5F9"/>
                    </a:solidFill>
                  </a:tcPr>
                </a:tc>
                <a:tc>
                  <a:txBody>
                    <a:bodyPr/>
                    <a:lstStyle/>
                    <a:p>
                      <a:pPr algn="ctr"/>
                      <a:r>
                        <a:rPr sz="1400" b="0">
                          <a:solidFill>
                            <a:srgbClr val="1A1D24"/>
                          </a:solidFill>
                          <a:latin typeface="Segoe UI"/>
                        </a:rPr>
                        <a:t>Fits in 16 GB; no A100 needed</a:t>
                      </a:r>
                    </a:p>
                  </a:txBody>
                  <a:tcPr>
                    <a:solidFill>
                      <a:srgbClr val="F2F5F9"/>
                    </a:solidFill>
                  </a:tcPr>
                </a:tc>
                <a:extLst>
                  <a:ext uri="{0D108BD9-81ED-4DB2-BD59-A6C34878D82A}">
                    <a16:rowId xmlns:a16="http://schemas.microsoft.com/office/drawing/2014/main" val="10002"/>
                  </a:ext>
                </a:extLst>
              </a:tr>
              <a:tr h="414528">
                <a:tc>
                  <a:txBody>
                    <a:bodyPr/>
                    <a:lstStyle/>
                    <a:p>
                      <a:pPr algn="l"/>
                      <a:r>
                        <a:rPr sz="1400" b="0">
                          <a:solidFill>
                            <a:srgbClr val="1A1D24"/>
                          </a:solidFill>
                          <a:latin typeface="Segoe UI"/>
                        </a:rPr>
                        <a:t>On a cheap cloud GPU (T4, on-demand)</a:t>
                      </a:r>
                    </a:p>
                  </a:txBody>
                  <a:tcPr>
                    <a:solidFill>
                      <a:srgbClr val="FFFFFF"/>
                    </a:solidFill>
                  </a:tcPr>
                </a:tc>
                <a:tc>
                  <a:txBody>
                    <a:bodyPr/>
                    <a:lstStyle/>
                    <a:p>
                      <a:pPr algn="ctr"/>
                      <a:r>
                        <a:rPr sz="1400" b="0">
                          <a:solidFill>
                            <a:srgbClr val="1A1D24"/>
                          </a:solidFill>
                          <a:latin typeface="Segoe UI"/>
                        </a:rPr>
                        <a:t>$85 - $120</a:t>
                      </a:r>
                    </a:p>
                  </a:txBody>
                  <a:tcPr>
                    <a:solidFill>
                      <a:srgbClr val="FFFFFF"/>
                    </a:solidFill>
                  </a:tcPr>
                </a:tc>
                <a:tc>
                  <a:txBody>
                    <a:bodyPr/>
                    <a:lstStyle/>
                    <a:p>
                      <a:pPr algn="ctr"/>
                      <a:r>
                        <a:rPr sz="1400" b="0">
                          <a:solidFill>
                            <a:srgbClr val="1A1D24"/>
                          </a:solidFill>
                          <a:latin typeface="Segoe UI"/>
                        </a:rPr>
                        <a:t>Safer, no eviction</a:t>
                      </a:r>
                    </a:p>
                  </a:txBody>
                  <a:tcPr>
                    <a:solidFill>
                      <a:srgbClr val="FFFFFF"/>
                    </a:solidFill>
                  </a:tcPr>
                </a:tc>
                <a:extLst>
                  <a:ext uri="{0D108BD9-81ED-4DB2-BD59-A6C34878D82A}">
                    <a16:rowId xmlns:a16="http://schemas.microsoft.com/office/drawing/2014/main" val="10003"/>
                  </a:ext>
                </a:extLst>
              </a:tr>
              <a:tr h="414528">
                <a:tc>
                  <a:txBody>
                    <a:bodyPr/>
                    <a:lstStyle/>
                    <a:p>
                      <a:pPr algn="l"/>
                      <a:r>
                        <a:rPr sz="1400" b="0">
                          <a:solidFill>
                            <a:srgbClr val="1A1D24"/>
                          </a:solidFill>
                          <a:latin typeface="Segoe UI"/>
                        </a:rPr>
                        <a:t>API credits</a:t>
                      </a:r>
                    </a:p>
                  </a:txBody>
                  <a:tcPr>
                    <a:solidFill>
                      <a:srgbClr val="F2F5F9"/>
                    </a:solidFill>
                  </a:tcPr>
                </a:tc>
                <a:tc>
                  <a:txBody>
                    <a:bodyPr/>
                    <a:lstStyle/>
                    <a:p>
                      <a:pPr algn="ctr"/>
                      <a:r>
                        <a:rPr sz="1400" b="0">
                          <a:solidFill>
                            <a:srgbClr val="1A1D24"/>
                          </a:solidFill>
                          <a:latin typeface="Segoe UI"/>
                        </a:rPr>
                        <a:t>$0 - $25</a:t>
                      </a:r>
                    </a:p>
                  </a:txBody>
                  <a:tcPr>
                    <a:solidFill>
                      <a:srgbClr val="F2F5F9"/>
                    </a:solidFill>
                  </a:tcPr>
                </a:tc>
                <a:tc>
                  <a:txBody>
                    <a:bodyPr/>
                    <a:lstStyle/>
                    <a:p>
                      <a:pPr algn="ctr"/>
                      <a:r>
                        <a:rPr sz="1400" b="0">
                          <a:solidFill>
                            <a:srgbClr val="1A1D24"/>
                          </a:solidFill>
                          <a:latin typeface="Segoe UI"/>
                        </a:rPr>
                        <a:t>Paraphrasing and rule-based data are local and free</a:t>
                      </a:r>
                    </a:p>
                  </a:txBody>
                  <a:tcPr>
                    <a:solidFill>
                      <a:srgbClr val="F2F5F9"/>
                    </a:solidFill>
                  </a:tcPr>
                </a:tc>
                <a:extLst>
                  <a:ext uri="{0D108BD9-81ED-4DB2-BD59-A6C34878D82A}">
                    <a16:rowId xmlns:a16="http://schemas.microsoft.com/office/drawing/2014/main" val="10004"/>
                  </a:ext>
                </a:extLst>
              </a:tr>
              <a:tr h="414528">
                <a:tc>
                  <a:txBody>
                    <a:bodyPr/>
                    <a:lstStyle/>
                    <a:p>
                      <a:pPr algn="l"/>
                      <a:r>
                        <a:rPr sz="1400" b="0">
                          <a:solidFill>
                            <a:srgbClr val="1A1D24"/>
                          </a:solidFill>
                          <a:latin typeface="Segoe UI"/>
                        </a:rPr>
                        <a:t>Free option</a:t>
                      </a:r>
                    </a:p>
                  </a:txBody>
                  <a:tcPr>
                    <a:solidFill>
                      <a:srgbClr val="FFFFFF"/>
                    </a:solidFill>
                  </a:tcPr>
                </a:tc>
                <a:tc>
                  <a:txBody>
                    <a:bodyPr/>
                    <a:lstStyle/>
                    <a:p>
                      <a:pPr algn="ctr"/>
                      <a:r>
                        <a:rPr sz="1400" b="0">
                          <a:solidFill>
                            <a:srgbClr val="1A1D24"/>
                          </a:solidFill>
                          <a:latin typeface="Segoe UI"/>
                        </a:rPr>
                        <a:t>$0</a:t>
                      </a:r>
                    </a:p>
                  </a:txBody>
                  <a:tcPr>
                    <a:solidFill>
                      <a:srgbClr val="FFFFFF"/>
                    </a:solidFill>
                  </a:tcPr>
                </a:tc>
                <a:tc>
                  <a:txBody>
                    <a:bodyPr/>
                    <a:lstStyle/>
                    <a:p>
                      <a:pPr algn="ctr"/>
                      <a:r>
                        <a:rPr sz="1400" b="0">
                          <a:solidFill>
                            <a:srgbClr val="1A1D24"/>
                          </a:solidFill>
                          <a:latin typeface="Segoe UI"/>
                        </a:rPr>
                        <a:t>UMass Unity, or Azure for Students (~$100)</a:t>
                      </a:r>
                    </a:p>
                  </a:txBody>
                  <a:tcPr>
                    <a:solidFill>
                      <a:srgbClr val="FFFFFF"/>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640080" y="3904488"/>
            <a:ext cx="10881360" cy="914400"/>
          </a:xfrm>
          <a:prstGeom prst="rect">
            <a:avLst/>
          </a:prstGeom>
          <a:noFill/>
        </p:spPr>
        <p:txBody>
          <a:bodyPr wrap="square">
            <a:spAutoFit/>
          </a:bodyPr>
          <a:lstStyle/>
          <a:p>
            <a:pPr algn="l">
              <a:lnSpc>
                <a:spcPct val="115000"/>
              </a:lnSpc>
              <a:spcAft>
                <a:spcPts val="600"/>
              </a:spcAft>
            </a:pPr>
            <a:r>
              <a:rPr sz="1500" b="0">
                <a:solidFill>
                  <a:srgbClr val="5F6B7A"/>
                </a:solidFill>
                <a:latin typeface="Segoe UI"/>
              </a:rPr>
              <a:t>Money is not the constraint — GPU access and our own time are. Note: Azure gives you ZERO GPU quota by default and approval can take a day, so request it first.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10881360" cy="640080"/>
          </a:xfrm>
          <a:prstGeom prst="rect">
            <a:avLst/>
          </a:prstGeom>
          <a:noFill/>
        </p:spPr>
        <p:txBody>
          <a:bodyPr wrap="square">
            <a:spAutoFit/>
          </a:bodyPr>
          <a:lstStyle/>
          <a:p>
            <a:pPr algn="l">
              <a:lnSpc>
                <a:spcPct val="115000"/>
              </a:lnSpc>
              <a:spcAft>
                <a:spcPts val="600"/>
              </a:spcAft>
            </a:pPr>
            <a:r>
              <a:rPr sz="2800" b="1">
                <a:solidFill>
                  <a:srgbClr val="1A1D24"/>
                </a:solidFill>
                <a:latin typeface="Segoe UI"/>
              </a:rPr>
              <a:t>What I need from the room</a:t>
            </a:r>
          </a:p>
        </p:txBody>
      </p:sp>
      <p:sp>
        <p:nvSpPr>
          <p:cNvPr id="3" name="Rectangle 2"/>
          <p:cNvSpPr/>
          <p:nvPr/>
        </p:nvSpPr>
        <p:spPr>
          <a:xfrm>
            <a:off x="640080" y="1051560"/>
            <a:ext cx="1463040" cy="38100"/>
          </a:xfrm>
          <a:prstGeom prst="rect">
            <a:avLst/>
          </a:prstGeom>
          <a:solidFill>
            <a:srgbClr val="1F6F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371600"/>
            <a:ext cx="10789920" cy="4297680"/>
          </a:xfrm>
          <a:prstGeom prst="rect">
            <a:avLst/>
          </a:prstGeom>
          <a:noFill/>
        </p:spPr>
        <p:txBody>
          <a:bodyPr wrap="square">
            <a:spAutoFit/>
          </a:bodyPr>
          <a:lstStyle/>
          <a:p>
            <a:pPr algn="l">
              <a:lnSpc>
                <a:spcPct val="115000"/>
              </a:lnSpc>
              <a:spcAft>
                <a:spcPts val="1000"/>
              </a:spcAft>
            </a:pPr>
            <a:r>
              <a:rPr sz="1800" b="0">
                <a:solidFill>
                  <a:srgbClr val="1A1D24"/>
                </a:solidFill>
                <a:latin typeface="Segoe UI"/>
              </a:rPr>
              <a:t>1.  Do we restart training from scratch with the bigger encoder? (My view: yes — the old checkpoints are invalid anyway because of the sentence-length bug.)</a:t>
            </a:r>
          </a:p>
          <a:p>
            <a:pPr algn="l">
              <a:lnSpc>
                <a:spcPct val="115000"/>
              </a:lnSpc>
              <a:spcAft>
                <a:spcPts val="1000"/>
              </a:spcAft>
            </a:pPr>
            <a:endParaRPr sz="1800" b="0">
              <a:solidFill>
                <a:srgbClr val="1A1D24"/>
              </a:solidFill>
              <a:latin typeface="Segoe UI"/>
            </a:endParaRPr>
          </a:p>
          <a:p>
            <a:pPr algn="l">
              <a:lnSpc>
                <a:spcPct val="115000"/>
              </a:lnSpc>
              <a:spcAft>
                <a:spcPts val="1000"/>
              </a:spcAft>
            </a:pPr>
            <a:r>
              <a:rPr sz="1800" b="0">
                <a:solidFill>
                  <a:srgbClr val="1A1D24"/>
                </a:solidFill>
                <a:latin typeface="Segoe UI"/>
              </a:rPr>
              <a:t>2.  Do we keep MSR sentences, or move to a real long-conversation benchmark (LOCOMO / LongMemEval) for the memory story?</a:t>
            </a:r>
          </a:p>
          <a:p>
            <a:pPr algn="l">
              <a:lnSpc>
                <a:spcPct val="115000"/>
              </a:lnSpc>
              <a:spcAft>
                <a:spcPts val="1000"/>
              </a:spcAft>
            </a:pPr>
            <a:endParaRPr sz="1800" b="0">
              <a:solidFill>
                <a:srgbClr val="1A1D24"/>
              </a:solidFill>
              <a:latin typeface="Segoe UI"/>
            </a:endParaRPr>
          </a:p>
          <a:p>
            <a:pPr algn="l">
              <a:lnSpc>
                <a:spcPct val="115000"/>
              </a:lnSpc>
              <a:spcAft>
                <a:spcPts val="1000"/>
              </a:spcAft>
            </a:pPr>
            <a:r>
              <a:rPr sz="1800" b="0">
                <a:solidFill>
                  <a:srgbClr val="1A1D24"/>
                </a:solidFill>
                <a:latin typeface="Segoe UI"/>
              </a:rPr>
              <a:t>3.  Is 'gist-anchored forgetting' a headline experiment or a footnote? (My view: headline — it is the most original thing here.)</a:t>
            </a:r>
          </a:p>
          <a:p>
            <a:pPr algn="l">
              <a:lnSpc>
                <a:spcPct val="115000"/>
              </a:lnSpc>
              <a:spcAft>
                <a:spcPts val="1000"/>
              </a:spcAft>
            </a:pPr>
            <a:endParaRPr sz="1800" b="0">
              <a:solidFill>
                <a:srgbClr val="1A1D24"/>
              </a:solidFill>
              <a:latin typeface="Segoe UI"/>
            </a:endParaRPr>
          </a:p>
          <a:p>
            <a:pPr algn="l">
              <a:lnSpc>
                <a:spcPct val="115000"/>
              </a:lnSpc>
              <a:spcAft>
                <a:spcPts val="1000"/>
              </a:spcAft>
            </a:pPr>
            <a:r>
              <a:rPr sz="1800" b="0">
                <a:solidFill>
                  <a:srgbClr val="1A1D24"/>
                </a:solidFill>
                <a:latin typeface="Segoe UI"/>
              </a:rPr>
              <a:t>4.  Who takes which workstream? Data + metrics, model, diffusion, and downstream QA can all proceed in parallel.</a:t>
            </a:r>
          </a:p>
          <a:p>
            <a:pPr algn="l">
              <a:lnSpc>
                <a:spcPct val="115000"/>
              </a:lnSpc>
              <a:spcAft>
                <a:spcPts val="1000"/>
              </a:spcAft>
            </a:pPr>
            <a:endParaRPr sz="1800" b="0">
              <a:solidFill>
                <a:srgbClr val="1A1D24"/>
              </a:solidFill>
              <a:latin typeface="Segoe UI"/>
            </a:endParaRPr>
          </a:p>
          <a:p>
            <a:pPr algn="l">
              <a:lnSpc>
                <a:spcPct val="115000"/>
              </a:lnSpc>
              <a:spcAft>
                <a:spcPts val="1000"/>
              </a:spcAft>
            </a:pPr>
            <a:r>
              <a:rPr sz="1800" b="0">
                <a:solidFill>
                  <a:srgbClr val="1A1D24"/>
                </a:solidFill>
                <a:latin typeface="Segoe UI"/>
              </a:rPr>
              <a:t>5.  Do we have GPU access sorted — Unity, Azure credits, or do we pay?</a:t>
            </a:r>
          </a:p>
        </p:txBody>
      </p:sp>
      <p:sp>
        <p:nvSpPr>
          <p:cNvPr id="5" name="TextBox 4"/>
          <p:cNvSpPr txBox="1"/>
          <p:nvPr/>
        </p:nvSpPr>
        <p:spPr>
          <a:xfrm>
            <a:off x="685800" y="5806440"/>
            <a:ext cx="10789920" cy="731520"/>
          </a:xfrm>
          <a:prstGeom prst="rect">
            <a:avLst/>
          </a:prstGeom>
          <a:noFill/>
        </p:spPr>
        <p:txBody>
          <a:bodyPr wrap="square">
            <a:spAutoFit/>
          </a:bodyPr>
          <a:lstStyle/>
          <a:p>
            <a:pPr algn="l">
              <a:lnSpc>
                <a:spcPct val="115000"/>
              </a:lnSpc>
              <a:spcAft>
                <a:spcPts val="600"/>
              </a:spcAft>
            </a:pPr>
            <a:r>
              <a:rPr sz="1500" b="0">
                <a:solidFill>
                  <a:srgbClr val="5F6B7A"/>
                </a:solidFill>
                <a:latin typeface="Segoe UI"/>
              </a:rPr>
              <a:t>Full technical detail, including all 16 defects and the reasoning behind every change, is in RESEARCH_PLAN.md in the repo.</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2011680"/>
            <a:ext cx="12191695" cy="2194560"/>
          </a:xfrm>
          <a:prstGeom prst="rect">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286000"/>
            <a:ext cx="10515600" cy="457200"/>
          </a:xfrm>
          <a:prstGeom prst="rect">
            <a:avLst/>
          </a:prstGeom>
          <a:noFill/>
        </p:spPr>
        <p:txBody>
          <a:bodyPr wrap="square">
            <a:spAutoFit/>
          </a:bodyPr>
          <a:lstStyle/>
          <a:p>
            <a:pPr algn="l">
              <a:lnSpc>
                <a:spcPct val="115000"/>
              </a:lnSpc>
              <a:spcAft>
                <a:spcPts val="600"/>
              </a:spcAft>
            </a:pPr>
            <a:r>
              <a:rPr sz="1500" b="1">
                <a:solidFill>
                  <a:srgbClr val="1F6FD4"/>
                </a:solidFill>
                <a:latin typeface="Segoe UI"/>
              </a:rPr>
              <a:t>WHERE WE ARE</a:t>
            </a:r>
          </a:p>
        </p:txBody>
      </p:sp>
      <p:sp>
        <p:nvSpPr>
          <p:cNvPr id="4" name="TextBox 3"/>
          <p:cNvSpPr txBox="1"/>
          <p:nvPr/>
        </p:nvSpPr>
        <p:spPr>
          <a:xfrm>
            <a:off x="822960" y="2697480"/>
            <a:ext cx="10515600" cy="1463040"/>
          </a:xfrm>
          <a:prstGeom prst="rect">
            <a:avLst/>
          </a:prstGeom>
          <a:noFill/>
        </p:spPr>
        <p:txBody>
          <a:bodyPr wrap="square">
            <a:spAutoFit/>
          </a:bodyPr>
          <a:lstStyle/>
          <a:p>
            <a:pPr algn="l">
              <a:lnSpc>
                <a:spcPct val="115000"/>
              </a:lnSpc>
              <a:spcAft>
                <a:spcPts val="600"/>
              </a:spcAft>
            </a:pPr>
            <a:r>
              <a:rPr sz="2600" b="1">
                <a:solidFill>
                  <a:srgbClr val="1A1D24"/>
                </a:solidFill>
                <a:latin typeface="Segoe UI"/>
              </a:rPr>
              <a:t>The pipeline is rebuilt, tested and runnable.</a:t>
            </a:r>
          </a:p>
          <a:p>
            <a:pPr algn="l">
              <a:lnSpc>
                <a:spcPct val="115000"/>
              </a:lnSpc>
              <a:spcAft>
                <a:spcPts val="600"/>
              </a:spcAft>
            </a:pPr>
            <a:r>
              <a:rPr sz="2600" b="1">
                <a:solidFill>
                  <a:srgbClr val="1A1D24"/>
                </a:solidFill>
                <a:latin typeface="Segoe UI"/>
              </a:rPr>
              <a:t>The data says the problem is ours to fix, not the data's.</a:t>
            </a:r>
          </a:p>
        </p:txBody>
      </p:sp>
      <p:sp>
        <p:nvSpPr>
          <p:cNvPr id="5" name="TextBox 4"/>
          <p:cNvSpPr txBox="1"/>
          <p:nvPr/>
        </p:nvSpPr>
        <p:spPr>
          <a:xfrm>
            <a:off x="822960" y="4572000"/>
            <a:ext cx="10515600" cy="1463040"/>
          </a:xfrm>
          <a:prstGeom prst="rect">
            <a:avLst/>
          </a:prstGeom>
          <a:noFill/>
        </p:spPr>
        <p:txBody>
          <a:bodyPr wrap="square">
            <a:spAutoFit/>
          </a:bodyPr>
          <a:lstStyle/>
          <a:p>
            <a:pPr algn="l">
              <a:lnSpc>
                <a:spcPct val="115000"/>
              </a:lnSpc>
              <a:spcAft>
                <a:spcPts val="800"/>
              </a:spcAft>
            </a:pPr>
            <a:r>
              <a:rPr sz="1800" b="0">
                <a:solidFill>
                  <a:srgbClr val="5F6B7A"/>
                </a:solidFill>
                <a:latin typeface="Segoe UI"/>
              </a:rPr>
              <a:t>Next: Gate 0 (10 min) → Gate 2 baseline (1 h) → train.</a:t>
            </a:r>
          </a:p>
          <a:p>
            <a:pPr algn="l">
              <a:lnSpc>
                <a:spcPct val="115000"/>
              </a:lnSpc>
              <a:spcAft>
                <a:spcPts val="800"/>
              </a:spcAft>
            </a:pPr>
            <a:r>
              <a:rPr sz="1800" b="0">
                <a:solidFill>
                  <a:srgbClr val="5F6B7A"/>
                </a:solidFill>
                <a:latin typeface="Segoe UI"/>
              </a:rPr>
              <a:t>Everything else is already written and waiting for a GPU.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1179</TotalTime>
  <Words>1608</Words>
  <Application>Microsoft Office PowerPoint</Application>
  <PresentationFormat>Widescreen</PresentationFormat>
  <Paragraphs>197</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Prakriti Shetty</cp:lastModifiedBy>
  <cp:revision>2</cp:revision>
  <dcterms:created xsi:type="dcterms:W3CDTF">2013-01-27T09:14:16Z</dcterms:created>
  <dcterms:modified xsi:type="dcterms:W3CDTF">2026-09-12T15:02:15Z</dcterms:modified>
  <cp:category/>
</cp:coreProperties>
</file>