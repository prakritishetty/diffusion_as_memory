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3774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10515600" cy="1097280"/>
          </a:xfrm>
          <a:prstGeom prst="rect">
            <a:avLst/>
          </a:prstGeom>
          <a:noFill/>
        </p:spPr>
        <p:txBody>
          <a:bodyPr wrap="square">
            <a:spAutoFit/>
          </a:bodyPr>
          <a:lstStyle/>
          <a:p>
            <a:pPr algn="l">
              <a:lnSpc>
                <a:spcPct val="115000"/>
              </a:lnSpc>
              <a:spcAft>
                <a:spcPts val="600"/>
              </a:spcAft>
            </a:pPr>
            <a:r>
              <a:rPr sz="4000" b="1">
                <a:solidFill>
                  <a:srgbClr val="1A1D24"/>
                </a:solidFill>
                <a:latin typeface="Segoe UI"/>
              </a:rPr>
              <a:t>Diffusion as Memory — where we are, what changed</a:t>
            </a:r>
          </a:p>
        </p:txBody>
      </p:sp>
      <p:sp>
        <p:nvSpPr>
          <p:cNvPr id="4" name="Rectangle 3"/>
          <p:cNvSpPr/>
          <p:nvPr/>
        </p:nvSpPr>
        <p:spPr>
          <a:xfrm>
            <a:off x="822960" y="1691640"/>
            <a:ext cx="201168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74519"/>
            <a:ext cx="10515600" cy="548640"/>
          </a:xfrm>
          <a:prstGeom prst="rect">
            <a:avLst/>
          </a:prstGeom>
          <a:noFill/>
        </p:spPr>
        <p:txBody>
          <a:bodyPr wrap="square">
            <a:spAutoFit/>
          </a:bodyPr>
          <a:lstStyle/>
          <a:p>
            <a:pPr algn="l">
              <a:lnSpc>
                <a:spcPct val="115000"/>
              </a:lnSpc>
              <a:spcAft>
                <a:spcPts val="600"/>
              </a:spcAft>
            </a:pPr>
            <a:r>
              <a:rPr sz="1900" b="0">
                <a:solidFill>
                  <a:srgbClr val="5F6B7A"/>
                </a:solidFill>
                <a:latin typeface="Segoe UI"/>
              </a:rPr>
              <a:t>Rebuild of the pipeline, plus results that already change the plan</a:t>
            </a:r>
          </a:p>
        </p:txBody>
      </p:sp>
      <p:sp>
        <p:nvSpPr>
          <p:cNvPr id="6" name="TextBox 5"/>
          <p:cNvSpPr txBox="1"/>
          <p:nvPr/>
        </p:nvSpPr>
        <p:spPr>
          <a:xfrm>
            <a:off x="822960" y="2926080"/>
            <a:ext cx="10515600" cy="2926080"/>
          </a:xfrm>
          <a:prstGeom prst="rect">
            <a:avLst/>
          </a:prstGeom>
          <a:noFill/>
        </p:spPr>
        <p:txBody>
          <a:bodyPr wrap="square">
            <a:spAutoFit/>
          </a:bodyPr>
          <a:lstStyle/>
          <a:p>
            <a:pPr algn="l">
              <a:lnSpc>
                <a:spcPct val="115000"/>
              </a:lnSpc>
              <a:spcAft>
                <a:spcPts val="1200"/>
              </a:spcAft>
            </a:pPr>
            <a:r>
              <a:rPr sz="1800" b="0">
                <a:solidFill>
                  <a:srgbClr val="1A1D24"/>
                </a:solidFill>
                <a:latin typeface="Segoe UI"/>
              </a:rPr>
              <a:t>The idea in one line: store a memory once, then read it back at any level of detail — and stop as soon as you have enough.</a:t>
            </a:r>
          </a:p>
          <a:p>
            <a:pPr algn="l">
              <a:lnSpc>
                <a:spcPct val="115000"/>
              </a:lnSpc>
              <a:spcAft>
                <a:spcPts val="1200"/>
              </a:spcAft>
            </a:pPr>
          </a:p>
          <a:p>
            <a:pPr algn="l">
              <a:lnSpc>
                <a:spcPct val="115000"/>
              </a:lnSpc>
              <a:spcAft>
                <a:spcPts val="1200"/>
              </a:spcAft>
            </a:pPr>
            <a:r>
              <a:rPr sz="1800" b="0">
                <a:solidFill>
                  <a:srgbClr val="1A1D24"/>
                </a:solidFill>
                <a:latin typeface="Segoe UI"/>
              </a:rPr>
              <a:t>This deck: what was broken, what the data already told us, what we rebuilt, and what to run next.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idea, in plain language</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A memory is stored as two things: a GIST (the gene­ral point) and DETAILS (names, numbers, dates).</a:t>
            </a:r>
          </a:p>
          <a:p>
            <a:pPr algn="l">
              <a:lnSpc>
                <a:spcPct val="115000"/>
              </a:lnSpc>
              <a:spcAft>
                <a:spcPts val="1000"/>
              </a:spcAft>
            </a:pPr>
          </a:p>
          <a:p>
            <a:pPr algn="l">
              <a:lnSpc>
                <a:spcPct val="115000"/>
              </a:lnSpc>
              <a:spcAft>
                <a:spcPts val="1000"/>
              </a:spcAft>
            </a:pPr>
            <a:r>
              <a:rPr sz="1800" b="0">
                <a:solidFill>
                  <a:srgbClr val="1A1D24"/>
                </a:solidFill>
                <a:latin typeface="Segoe UI"/>
              </a:rPr>
              <a:t>Time passing = adding noise to the details. The gist is left untouched.</a:t>
            </a:r>
          </a:p>
          <a:p>
            <a:pPr algn="l">
              <a:lnSpc>
                <a:spcPct val="115000"/>
              </a:lnSpc>
              <a:spcAft>
                <a:spcPts val="1000"/>
              </a:spcAft>
            </a:pPr>
          </a:p>
          <a:p>
            <a:pPr algn="l">
              <a:lnSpc>
                <a:spcPct val="115000"/>
              </a:lnSpc>
              <a:spcAft>
                <a:spcPts val="1000"/>
              </a:spcAft>
            </a:pPr>
            <a:r>
              <a:rPr sz="1800" b="0">
                <a:solidFill>
                  <a:srgbClr val="1A1D24"/>
                </a:solidFill>
                <a:latin typeface="Segoe UI"/>
              </a:rPr>
              <a:t>Remembering = removing that noise step by step, using the gist as the cue. Stop early and you get a true-but-vague answer; keep going and the specifics come back.</a:t>
            </a:r>
          </a:p>
          <a:p>
            <a:pPr algn="l">
              <a:lnSpc>
                <a:spcPct val="115000"/>
              </a:lnSpc>
              <a:spcAft>
                <a:spcPts val="1000"/>
              </a:spcAft>
            </a:pPr>
          </a:p>
          <a:p>
            <a:pPr algn="l">
              <a:lnSpc>
                <a:spcPct val="115000"/>
              </a:lnSpc>
              <a:spcAft>
                <a:spcPts val="1000"/>
              </a:spcAft>
            </a:pPr>
            <a:r>
              <a:rPr sz="1800" b="0">
                <a:solidFill>
                  <a:srgbClr val="1A1D24"/>
                </a:solidFill>
                <a:latin typeface="Segoe UI"/>
              </a:rPr>
              <a:t>Why anyone should care: normal retrieval is a switch — you get the whole stored passage or nothing. We want a dial.</a:t>
            </a:r>
          </a:p>
          <a:p>
            <a:pPr algn="l">
              <a:lnSpc>
                <a:spcPct val="115000"/>
              </a:lnSpc>
              <a:spcAft>
                <a:spcPts val="1000"/>
              </a:spcAft>
            </a:pPr>
          </a:p>
          <a:p>
            <a:pPr algn="l">
              <a:lnSpc>
                <a:spcPct val="115000"/>
              </a:lnSpc>
              <a:spcAft>
                <a:spcPts val="1000"/>
              </a:spcAft>
            </a:pPr>
            <a:r>
              <a:rPr sz="1800" b="0">
                <a:solidFill>
                  <a:srgbClr val="1A1D24"/>
                </a:solidFill>
                <a:latin typeface="Segoe UI"/>
              </a:rPr>
              <a:t>And a dial is only useful if turning it down never makes you WRONG, only less specific.</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That last line is the whole claim. Everything we measure is aimed at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194560"/>
            <a:ext cx="12191695" cy="18288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23160"/>
            <a:ext cx="10515600" cy="36576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PART 1</a:t>
            </a:r>
          </a:p>
        </p:txBody>
      </p:sp>
      <p:sp>
        <p:nvSpPr>
          <p:cNvPr id="4" name="TextBox 3"/>
          <p:cNvSpPr txBox="1"/>
          <p:nvPr/>
        </p:nvSpPr>
        <p:spPr>
          <a:xfrm>
            <a:off x="822960" y="2788920"/>
            <a:ext cx="10515600" cy="914400"/>
          </a:xfrm>
          <a:prstGeom prst="rect">
            <a:avLst/>
          </a:prstGeom>
          <a:noFill/>
        </p:spPr>
        <p:txBody>
          <a:bodyPr wrap="square">
            <a:spAutoFit/>
          </a:bodyPr>
          <a:lstStyle/>
          <a:p>
            <a:pPr algn="l">
              <a:lnSpc>
                <a:spcPct val="115000"/>
              </a:lnSpc>
              <a:spcAft>
                <a:spcPts val="600"/>
              </a:spcAft>
            </a:pPr>
            <a:r>
              <a:rPr sz="3400" b="1">
                <a:solidFill>
                  <a:srgbClr val="1A1D24"/>
                </a:solidFill>
                <a:latin typeface="Segoe UI"/>
              </a:rPr>
              <a:t>What we found when we audited the old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Four defects that make the current results untrustworthy</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60" cy="2103120"/>
        </p:xfrm>
        <a:graphic>
          <a:graphicData uri="http://schemas.openxmlformats.org/drawingml/2006/table">
            <a:tbl>
              <a:tblPr firstRow="1" bandRow="1">
                <a:tableStyleId>{5C22544A-7EE6-4342-B048-85BDC9FD1C3A}</a:tableStyleId>
              </a:tblPr>
              <a:tblGrid>
                <a:gridCol w="453390"/>
                <a:gridCol w="4080510"/>
                <a:gridCol w="6347460"/>
              </a:tblGrid>
              <a:tr h="420624">
                <a:tc>
                  <a:txBody>
                    <a:bodyPr/>
                    <a:lstStyle/>
                    <a:p>
                      <a:pPr algn="l"/>
                      <a:r>
                        <a:rPr sz="1400" b="1">
                          <a:solidFill>
                            <a:srgbClr val="FFFFFF"/>
                          </a:solidFill>
                          <a:latin typeface="Segoe UI"/>
                        </a:rPr>
                        <a:t>#</a:t>
                      </a:r>
                    </a:p>
                  </a:txBody>
                  <a:tcPr>
                    <a:solidFill>
                      <a:srgbClr val="1A1D24"/>
                    </a:solidFill>
                  </a:tcPr>
                </a:tc>
                <a:tc>
                  <a:txBody>
                    <a:bodyPr/>
                    <a:lstStyle/>
                    <a:p>
                      <a:pPr algn="ctr"/>
                      <a:r>
                        <a:rPr sz="1400" b="1">
                          <a:solidFill>
                            <a:srgbClr val="FFFFFF"/>
                          </a:solidFill>
                          <a:latin typeface="Segoe UI"/>
                        </a:rPr>
                        <a:t>What was wrong</a:t>
                      </a:r>
                    </a:p>
                  </a:txBody>
                  <a:tcPr>
                    <a:solidFill>
                      <a:srgbClr val="1A1D24"/>
                    </a:solidFill>
                  </a:tcPr>
                </a:tc>
                <a:tc>
                  <a:txBody>
                    <a:bodyPr/>
                    <a:lstStyle/>
                    <a:p>
                      <a:pPr algn="ctr"/>
                      <a:r>
                        <a:rPr sz="1400" b="1">
                          <a:solidFill>
                            <a:srgbClr val="FFFFFF"/>
                          </a:solidFill>
                          <a:latin typeface="Segoe UI"/>
                        </a:rPr>
                        <a:t>Why it matters</a:t>
                      </a:r>
                    </a:p>
                  </a:txBody>
                  <a:tcPr>
                    <a:solidFill>
                      <a:srgbClr val="1A1D24"/>
                    </a:solidFill>
                  </a:tcPr>
                </a:tc>
              </a:tr>
              <a:tr h="420624">
                <a:tc>
                  <a:txBody>
                    <a:bodyPr/>
                    <a:lstStyle/>
                    <a:p>
                      <a:pPr algn="l"/>
                      <a:r>
                        <a:rPr sz="1400" b="0">
                          <a:solidFill>
                            <a:srgbClr val="1A1D24"/>
                          </a:solidFill>
                          <a:latin typeface="Segoe UI"/>
                        </a:rPr>
                        <a:t>1</a:t>
                      </a:r>
                    </a:p>
                  </a:txBody>
                  <a:tcPr>
                    <a:solidFill>
                      <a:srgbClr val="FFFFFF"/>
                    </a:solidFill>
                  </a:tcPr>
                </a:tc>
                <a:tc>
                  <a:txBody>
                    <a:bodyPr/>
                    <a:lstStyle/>
                    <a:p>
                      <a:pPr algn="ctr"/>
                      <a:r>
                        <a:rPr sz="1400" b="0">
                          <a:solidFill>
                            <a:srgbClr val="1A1D24"/>
                          </a:solidFill>
                          <a:latin typeface="Segoe UI"/>
                        </a:rPr>
                        <a:t>Validation scored the model while showing it the answer</a:t>
                      </a:r>
                    </a:p>
                  </a:txBody>
                  <a:tcPr>
                    <a:solidFill>
                      <a:srgbClr val="FFFFFF"/>
                    </a:solidFill>
                  </a:tcPr>
                </a:tc>
                <a:tc>
                  <a:txBody>
                    <a:bodyPr/>
                    <a:lstStyle/>
                    <a:p>
                      <a:pPr algn="ctr"/>
                      <a:r>
                        <a:rPr sz="1400" b="0">
                          <a:solidFill>
                            <a:srgbClr val="1A1D24"/>
                          </a:solidFill>
                          <a:latin typeface="Segoe UI"/>
                        </a:rPr>
                        <a:t>The reported BERTScore of 0.932 is inflated — the decoder was fed the correct words one at a time</a:t>
                      </a:r>
                    </a:p>
                  </a:txBody>
                  <a:tcPr>
                    <a:solidFill>
                      <a:srgbClr val="FFFFFF"/>
                    </a:solidFill>
                  </a:tcPr>
                </a:tc>
              </a:tr>
              <a:tr h="420624">
                <a:tc>
                  <a:txBody>
                    <a:bodyPr/>
                    <a:lstStyle/>
                    <a:p>
                      <a:pPr algn="l"/>
                      <a:r>
                        <a:rPr sz="1400" b="0">
                          <a:solidFill>
                            <a:srgbClr val="1A1D24"/>
                          </a:solidFill>
                          <a:latin typeface="Segoe UI"/>
                        </a:rPr>
                        <a:t>2</a:t>
                      </a:r>
                    </a:p>
                  </a:txBody>
                  <a:tcPr>
                    <a:solidFill>
                      <a:srgbClr val="F2F5F9"/>
                    </a:solidFill>
                  </a:tcPr>
                </a:tc>
                <a:tc>
                  <a:txBody>
                    <a:bodyPr/>
                    <a:lstStyle/>
                    <a:p>
                      <a:pPr algn="ctr"/>
                      <a:r>
                        <a:rPr sz="1400" b="0">
                          <a:solidFill>
                            <a:srgbClr val="1A1D24"/>
                          </a:solidFill>
                          <a:latin typeface="Segoe UI"/>
                        </a:rPr>
                        <a:t>The 'different but related' training example was the SAME sentence</a:t>
                      </a:r>
                    </a:p>
                  </a:txBody>
                  <a:tcPr>
                    <a:solidFill>
                      <a:srgbClr val="F2F5F9"/>
                    </a:solidFill>
                  </a:tcPr>
                </a:tc>
                <a:tc>
                  <a:txBody>
                    <a:bodyPr/>
                    <a:lstStyle/>
                    <a:p>
                      <a:pPr algn="ctr"/>
                      <a:r>
                        <a:rPr sz="1400" b="0">
                          <a:solidFill>
                            <a:srgbClr val="1A1D24"/>
                          </a:solidFill>
                          <a:latin typeface="Segoe UI"/>
                        </a:rPr>
                        <a:t>The gist vector had nothing to learn, so it was decoration</a:t>
                      </a:r>
                    </a:p>
                  </a:txBody>
                  <a:tcPr>
                    <a:solidFill>
                      <a:srgbClr val="F2F5F9"/>
                    </a:solidFill>
                  </a:tcPr>
                </a:tc>
              </a:tr>
              <a:tr h="420624">
                <a:tc>
                  <a:txBody>
                    <a:bodyPr/>
                    <a:lstStyle/>
                    <a:p>
                      <a:pPr algn="l"/>
                      <a:r>
                        <a:rPr sz="1400" b="0">
                          <a:solidFill>
                            <a:srgbClr val="1A1D24"/>
                          </a:solidFill>
                          <a:latin typeface="Segoe UI"/>
                        </a:rPr>
                        <a:t>3</a:t>
                      </a:r>
                    </a:p>
                  </a:txBody>
                  <a:tcPr>
                    <a:solidFill>
                      <a:srgbClr val="FFFFFF"/>
                    </a:solidFill>
                  </a:tcPr>
                </a:tc>
                <a:tc>
                  <a:txBody>
                    <a:bodyPr/>
                    <a:lstStyle/>
                    <a:p>
                      <a:pPr algn="ctr"/>
                      <a:r>
                        <a:rPr sz="1400" b="0">
                          <a:solidFill>
                            <a:srgbClr val="1A1D24"/>
                          </a:solidFill>
                          <a:latin typeface="Segoe UI"/>
                        </a:rPr>
                        <a:t>Stage 3 trained on 1 denoising step, but would run hundreds at test time</a:t>
                      </a:r>
                    </a:p>
                  </a:txBody>
                  <a:tcPr>
                    <a:solidFill>
                      <a:srgbClr val="FFFFFF"/>
                    </a:solidFill>
                  </a:tcPr>
                </a:tc>
                <a:tc>
                  <a:txBody>
                    <a:bodyPr/>
                    <a:lstStyle/>
                    <a:p>
                      <a:pPr algn="ctr"/>
                      <a:r>
                        <a:rPr sz="1400" b="0">
                          <a:solidFill>
                            <a:srgbClr val="1A1D24"/>
                          </a:solidFill>
                          <a:latin typeface="Segoe UI"/>
                        </a:rPr>
                        <a:t>Trained on inputs it would never actually see</a:t>
                      </a:r>
                    </a:p>
                  </a:txBody>
                  <a:tcPr>
                    <a:solidFill>
                      <a:srgbClr val="FFFFFF"/>
                    </a:solidFill>
                  </a:tcPr>
                </a:tc>
              </a:tr>
              <a:tr h="420624">
                <a:tc>
                  <a:txBody>
                    <a:bodyPr/>
                    <a:lstStyle/>
                    <a:p>
                      <a:pPr algn="l"/>
                      <a:r>
                        <a:rPr sz="1400" b="0">
                          <a:solidFill>
                            <a:srgbClr val="1A1D24"/>
                          </a:solidFill>
                          <a:latin typeface="Segoe UI"/>
                        </a:rPr>
                        <a:t>4</a:t>
                      </a:r>
                    </a:p>
                  </a:txBody>
                  <a:tcPr>
                    <a:solidFill>
                      <a:srgbClr val="F2F5F9"/>
                    </a:solidFill>
                  </a:tcPr>
                </a:tc>
                <a:tc>
                  <a:txBody>
                    <a:bodyPr/>
                    <a:lstStyle/>
                    <a:p>
                      <a:pPr algn="ctr"/>
                      <a:r>
                        <a:rPr sz="1400" b="0">
                          <a:solidFill>
                            <a:srgbClr val="1A1D24"/>
                          </a:solidFill>
                          <a:latin typeface="Segoe UI"/>
                        </a:rPr>
                        <a:t>The original sentence was never a training target</a:t>
                      </a:r>
                    </a:p>
                  </a:txBody>
                  <a:tcPr>
                    <a:solidFill>
                      <a:srgbClr val="F2F5F9"/>
                    </a:solidFill>
                  </a:tcPr>
                </a:tc>
                <a:tc>
                  <a:txBody>
                    <a:bodyPr/>
                    <a:lstStyle/>
                    <a:p>
                      <a:pPr algn="ctr"/>
                      <a:r>
                        <a:rPr sz="1400" b="0">
                          <a:solidFill>
                            <a:srgbClr val="1A1D24"/>
                          </a:solidFill>
                          <a:latin typeface="Segoe UI"/>
                        </a:rPr>
                        <a:t>The model could literally never be asked for full detail</a:t>
                      </a:r>
                    </a:p>
                  </a:txBody>
                  <a:tcPr>
                    <a:solidFill>
                      <a:srgbClr val="F2F5F9"/>
                    </a:solidFill>
                  </a:tcPr>
                </a:tc>
              </a:tr>
            </a:tbl>
          </a:graphicData>
        </a:graphic>
      </p:graphicFrame>
      <p:sp>
        <p:nvSpPr>
          <p:cNvPr id="5" name="TextBox 4"/>
          <p:cNvSpPr txBox="1"/>
          <p:nvPr/>
        </p:nvSpPr>
        <p:spPr>
          <a:xfrm>
            <a:off x="640080" y="3520440"/>
            <a:ext cx="10881360" cy="91440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12 more issues found, including: a third of sentences silently cut off at 64 tokens; the projection module could not look at more than one slot at a time; three config files disagreed on the latent size. Full list in RESEARCH_PLAN.md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supervision bug, explained without maths</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We have ~1000 'noise levels' and about 5 'detail levels' per sentence.</a:t>
            </a:r>
          </a:p>
          <a:p>
            <a:pPr algn="l">
              <a:lnSpc>
                <a:spcPct val="115000"/>
              </a:lnSpc>
              <a:spcAft>
                <a:spcPts val="1000"/>
              </a:spcAft>
            </a:pPr>
          </a:p>
          <a:p>
            <a:pPr algn="l">
              <a:lnSpc>
                <a:spcPct val="115000"/>
              </a:lnSpc>
              <a:spcAft>
                <a:spcPts val="1000"/>
              </a:spcAft>
            </a:pPr>
            <a:r>
              <a:rPr sz="1800" b="0">
                <a:solidFill>
                  <a:srgbClr val="1A1D24"/>
                </a:solidFill>
                <a:latin typeface="Segoe UI"/>
              </a:rPr>
              <a:t>The old rule mapped noise level to detail level by dividing by 100 — which assumes 10 detail levels, not 5.</a:t>
            </a:r>
          </a:p>
          <a:p>
            <a:pPr algn="l">
              <a:lnSpc>
                <a:spcPct val="115000"/>
              </a:lnSpc>
              <a:spcAft>
                <a:spcPts val="1000"/>
              </a:spcAft>
            </a:pPr>
          </a:p>
          <a:p>
            <a:pPr algn="l">
              <a:lnSpc>
                <a:spcPct val="115000"/>
              </a:lnSpc>
              <a:spcAft>
                <a:spcPts val="1000"/>
              </a:spcAft>
            </a:pPr>
            <a:r>
              <a:rPr sz="1800" b="0">
                <a:solidFill>
                  <a:srgbClr val="1A1D24"/>
                </a:solidFill>
                <a:latin typeface="Segoe UI"/>
              </a:rPr>
              <a:t>Result: roughly 6 out of every 10 training steps asked for the SAME most-abstract answer, whatever the noise level was.</a:t>
            </a:r>
          </a:p>
          <a:p>
            <a:pPr algn="l">
              <a:lnSpc>
                <a:spcPct val="115000"/>
              </a:lnSpc>
              <a:spcAft>
                <a:spcPts val="1000"/>
              </a:spcAft>
            </a:pPr>
          </a:p>
          <a:p>
            <a:pPr algn="l">
              <a:lnSpc>
                <a:spcPct val="115000"/>
              </a:lnSpc>
              <a:spcAft>
                <a:spcPts val="1000"/>
              </a:spcAft>
            </a:pPr>
            <a:r>
              <a:rPr sz="1800" b="0">
                <a:solidFill>
                  <a:srgbClr val="1A1D24"/>
                </a:solidFill>
                <a:latin typeface="Segoe UI"/>
              </a:rPr>
              <a:t>So the model was effectively taught two settings — 'slightly vague' and 'very vague' — and nothing in between. The in-between is the entire product.</a:t>
            </a:r>
          </a:p>
          <a:p>
            <a:pPr algn="l">
              <a:lnSpc>
                <a:spcPct val="115000"/>
              </a:lnSpc>
              <a:spcAft>
                <a:spcPts val="1000"/>
              </a:spcAft>
            </a:pPr>
          </a:p>
          <a:p>
            <a:pPr algn="l">
              <a:lnSpc>
                <a:spcPct val="115000"/>
              </a:lnSpc>
              <a:spcAft>
                <a:spcPts val="1000"/>
              </a:spcAft>
            </a:pPr>
            <a:r>
              <a:rPr sz="1800" b="0">
                <a:solidFill>
                  <a:srgbClr val="1A1D24"/>
                </a:solidFill>
                <a:latin typeface="Segoe UI"/>
              </a:rPr>
              <a:t>Fix: every detail level now owns an equal slice of the noise range, computed per sentence, and we deliberately sample each level equally often.</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Measured: old rule 51% of steps on the last rung; new rule 17% (= 1/6, which is exactly even). Verified by an automated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194560"/>
            <a:ext cx="12191695" cy="18288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23160"/>
            <a:ext cx="10515600" cy="36576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PART 2</a:t>
            </a:r>
          </a:p>
        </p:txBody>
      </p:sp>
      <p:sp>
        <p:nvSpPr>
          <p:cNvPr id="4" name="TextBox 3"/>
          <p:cNvSpPr txBox="1"/>
          <p:nvPr/>
        </p:nvSpPr>
        <p:spPr>
          <a:xfrm>
            <a:off x="822960" y="2788920"/>
            <a:ext cx="10515600" cy="914400"/>
          </a:xfrm>
          <a:prstGeom prst="rect">
            <a:avLst/>
          </a:prstGeom>
          <a:noFill/>
        </p:spPr>
        <p:txBody>
          <a:bodyPr wrap="square">
            <a:spAutoFit/>
          </a:bodyPr>
          <a:lstStyle/>
          <a:p>
            <a:pPr algn="l">
              <a:lnSpc>
                <a:spcPct val="115000"/>
              </a:lnSpc>
              <a:spcAft>
                <a:spcPts val="600"/>
              </a:spcAft>
            </a:pPr>
            <a:r>
              <a:rPr sz="3400" b="1">
                <a:solidFill>
                  <a:srgbClr val="1A1D24"/>
                </a:solidFill>
                <a:latin typeface="Segoe UI"/>
              </a:rPr>
              <a:t>Results we already have — no GPU needed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GATE 1: how good is our training data, really?</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60" cy="1719072"/>
        </p:xfrm>
        <a:graphic>
          <a:graphicData uri="http://schemas.openxmlformats.org/drawingml/2006/table">
            <a:tbl>
              <a:tblPr firstRow="1" bandRow="1">
                <a:tableStyleId>{5C22544A-7EE6-4342-B048-85BDC9FD1C3A}</a:tableStyleId>
              </a:tblPr>
              <a:tblGrid>
                <a:gridCol w="3989832"/>
                <a:gridCol w="1722882"/>
                <a:gridCol w="1722882"/>
                <a:gridCol w="1722882"/>
                <a:gridCol w="1722882"/>
              </a:tblGrid>
              <a:tr h="429768">
                <a:tc>
                  <a:txBody>
                    <a:bodyPr/>
                    <a:lstStyle/>
                    <a:p>
                      <a:pPr algn="l"/>
                      <a:r>
                        <a:rPr sz="1400" b="1">
                          <a:solidFill>
                            <a:srgbClr val="FFFFFF"/>
                          </a:solidFill>
                          <a:latin typeface="Segoe UI"/>
                        </a:rPr>
                        <a:t>Ladder source</a:t>
                      </a:r>
                    </a:p>
                  </a:txBody>
                  <a:tcPr>
                    <a:solidFill>
                      <a:srgbClr val="1A1D24"/>
                    </a:solidFill>
                  </a:tcPr>
                </a:tc>
                <a:tc>
                  <a:txBody>
                    <a:bodyPr/>
                    <a:lstStyle/>
                    <a:p>
                      <a:pPr algn="ctr"/>
                      <a:r>
                        <a:rPr sz="1400" b="1">
                          <a:solidFill>
                            <a:srgbClr val="FFFFFF"/>
                          </a:solidFill>
                          <a:latin typeface="Segoe UI"/>
                        </a:rPr>
                        <a:t>Detail falls</a:t>
                      </a:r>
                    </a:p>
                    <a:p>
                      <a:pPr algn="ctr"/>
                      <a:r>
                        <a:rPr sz="1400" b="1">
                          <a:solidFill>
                            <a:srgbClr val="FFFFFF"/>
                          </a:solidFill>
                          <a:latin typeface="Segoe UI"/>
                        </a:rPr>
                        <a:t>smoothly</a:t>
                      </a:r>
                    </a:p>
                  </a:txBody>
                  <a:tcPr>
                    <a:solidFill>
                      <a:srgbClr val="1A1D24"/>
                    </a:solidFill>
                  </a:tcPr>
                </a:tc>
                <a:tc>
                  <a:txBody>
                    <a:bodyPr/>
                    <a:lstStyle/>
                    <a:p>
                      <a:pPr algn="ctr"/>
                      <a:r>
                        <a:rPr sz="1400" b="1">
                          <a:solidFill>
                            <a:srgbClr val="FFFFFF"/>
                          </a:solidFill>
                          <a:latin typeface="Segoe UI"/>
                        </a:rPr>
                        <a:t>Never adds</a:t>
                      </a:r>
                    </a:p>
                    <a:p>
                      <a:pPr algn="ctr"/>
                      <a:r>
                        <a:rPr sz="1400" b="1">
                          <a:solidFill>
                            <a:srgbClr val="FFFFFF"/>
                          </a:solidFill>
                          <a:latin typeface="Segoe UI"/>
                        </a:rPr>
                        <a:t>anything new</a:t>
                      </a:r>
                    </a:p>
                  </a:txBody>
                  <a:tcPr>
                    <a:solidFill>
                      <a:srgbClr val="1A1D24"/>
                    </a:solidFill>
                  </a:tcPr>
                </a:tc>
                <a:tc>
                  <a:txBody>
                    <a:bodyPr/>
                    <a:lstStyle/>
                    <a:p>
                      <a:pPr algn="ctr"/>
                      <a:r>
                        <a:rPr sz="1400" b="1">
                          <a:solidFill>
                            <a:srgbClr val="FFFFFF"/>
                          </a:solidFill>
                          <a:latin typeface="Segoe UI"/>
                        </a:rPr>
                        <a:t>Makes things</a:t>
                      </a:r>
                    </a:p>
                    <a:p>
                      <a:pPr algn="ctr"/>
                      <a:r>
                        <a:rPr sz="1400" b="1">
                          <a:solidFill>
                            <a:srgbClr val="FFFFFF"/>
                          </a:solidFill>
                          <a:latin typeface="Segoe UI"/>
                        </a:rPr>
                        <a:t>up</a:t>
                      </a:r>
                    </a:p>
                  </a:txBody>
                  <a:tcPr>
                    <a:solidFill>
                      <a:srgbClr val="1A1D24"/>
                    </a:solidFill>
                  </a:tcPr>
                </a:tc>
                <a:tc>
                  <a:txBody>
                    <a:bodyPr/>
                    <a:lstStyle/>
                    <a:p>
                      <a:pPr algn="ctr"/>
                      <a:r>
                        <a:rPr sz="1400" b="1">
                          <a:solidFill>
                            <a:srgbClr val="FFFFFF"/>
                          </a:solidFill>
                          <a:latin typeface="Segoe UI"/>
                        </a:rPr>
                        <a:t>Complete</a:t>
                      </a:r>
                    </a:p>
                    <a:p>
                      <a:pPr algn="ctr"/>
                      <a:r>
                        <a:rPr sz="1400" b="1">
                          <a:solidFill>
                            <a:srgbClr val="FFFFFF"/>
                          </a:solidFill>
                          <a:latin typeface="Segoe UI"/>
                        </a:rPr>
                        <a:t>sentences</a:t>
                      </a:r>
                    </a:p>
                  </a:txBody>
                  <a:tcPr>
                    <a:solidFill>
                      <a:srgbClr val="1A1D24"/>
                    </a:solidFill>
                  </a:tcPr>
                </a:tc>
              </a:tr>
              <a:tr h="429768">
                <a:tc>
                  <a:txBody>
                    <a:bodyPr/>
                    <a:lstStyle/>
                    <a:p>
                      <a:pPr algn="l"/>
                      <a:r>
                        <a:rPr sz="1400" b="0">
                          <a:solidFill>
                            <a:srgbClr val="1A1D24"/>
                          </a:solidFill>
                          <a:latin typeface="Segoe UI"/>
                        </a:rPr>
                        <a:t>Gold ladders (GPT-written)</a:t>
                      </a:r>
                    </a:p>
                  </a:txBody>
                  <a:tcPr>
                    <a:solidFill>
                      <a:srgbClr val="FFFFFF"/>
                    </a:solidFill>
                  </a:tcPr>
                </a:tc>
                <a:tc>
                  <a:txBody>
                    <a:bodyPr/>
                    <a:lstStyle/>
                    <a:p>
                      <a:pPr algn="ctr"/>
                      <a:r>
                        <a:rPr sz="1400" b="1">
                          <a:solidFill>
                            <a:srgbClr val="1B7F4B"/>
                          </a:solidFill>
                          <a:latin typeface="Segoe UI"/>
                        </a:rPr>
                        <a:t>0.92</a:t>
                      </a:r>
                    </a:p>
                  </a:txBody>
                  <a:tcPr>
                    <a:solidFill>
                      <a:srgbClr val="FFFFFF"/>
                    </a:solidFill>
                  </a:tcPr>
                </a:tc>
                <a:tc>
                  <a:txBody>
                    <a:bodyPr/>
                    <a:lstStyle/>
                    <a:p>
                      <a:pPr algn="ctr"/>
                      <a:r>
                        <a:rPr sz="1400" b="1">
                          <a:solidFill>
                            <a:srgbClr val="B32D2D"/>
                          </a:solidFill>
                          <a:latin typeface="Segoe UI"/>
                        </a:rPr>
                        <a:t>0.05</a:t>
                      </a:r>
                    </a:p>
                  </a:txBody>
                  <a:tcPr>
                    <a:solidFill>
                      <a:srgbClr val="FFFFFF"/>
                    </a:solidFill>
                  </a:tcPr>
                </a:tc>
                <a:tc>
                  <a:txBody>
                    <a:bodyPr/>
                    <a:lstStyle/>
                    <a:p>
                      <a:pPr algn="ctr"/>
                      <a:r>
                        <a:rPr sz="1400" b="0">
                          <a:solidFill>
                            <a:srgbClr val="1A1D24"/>
                          </a:solidFill>
                          <a:latin typeface="Segoe UI"/>
                        </a:rPr>
                        <a:t>0.24</a:t>
                      </a:r>
                    </a:p>
                  </a:txBody>
                  <a:tcPr>
                    <a:solidFill>
                      <a:srgbClr val="FFFFFF"/>
                    </a:solidFill>
                  </a:tcPr>
                </a:tc>
                <a:tc>
                  <a:txBody>
                    <a:bodyPr/>
                    <a:lstStyle/>
                    <a:p>
                      <a:pPr algn="ctr"/>
                      <a:r>
                        <a:rPr sz="1400" b="1">
                          <a:solidFill>
                            <a:srgbClr val="1B7F4B"/>
                          </a:solidFill>
                          <a:latin typeface="Segoe UI"/>
                        </a:rPr>
                        <a:t>0.86</a:t>
                      </a:r>
                    </a:p>
                  </a:txBody>
                  <a:tcPr>
                    <a:solidFill>
                      <a:srgbClr val="FFFFFF"/>
                    </a:solidFill>
                  </a:tcPr>
                </a:tc>
              </a:tr>
              <a:tr h="429768">
                <a:tc>
                  <a:txBody>
                    <a:bodyPr/>
                    <a:lstStyle/>
                    <a:p>
                      <a:pPr algn="l"/>
                      <a:r>
                        <a:rPr sz="1400" b="0">
                          <a:solidFill>
                            <a:srgbClr val="1A1D24"/>
                          </a:solidFill>
                          <a:latin typeface="Segoe UI"/>
                        </a:rPr>
                        <a:t>Gold ladders (our new rule-based set)</a:t>
                      </a:r>
                    </a:p>
                  </a:txBody>
                  <a:tcPr>
                    <a:solidFill>
                      <a:srgbClr val="F2F5F9"/>
                    </a:solidFill>
                  </a:tcPr>
                </a:tc>
                <a:tc>
                  <a:txBody>
                    <a:bodyPr/>
                    <a:lstStyle/>
                    <a:p>
                      <a:pPr algn="ctr"/>
                      <a:r>
                        <a:rPr sz="1400" b="1">
                          <a:solidFill>
                            <a:srgbClr val="1B7F4B"/>
                          </a:solidFill>
                          <a:latin typeface="Segoe UI"/>
                        </a:rPr>
                        <a:t>1.00</a:t>
                      </a:r>
                    </a:p>
                  </a:txBody>
                  <a:tcPr>
                    <a:solidFill>
                      <a:srgbClr val="F2F5F9"/>
                    </a:solidFill>
                  </a:tcPr>
                </a:tc>
                <a:tc>
                  <a:txBody>
                    <a:bodyPr/>
                    <a:lstStyle/>
                    <a:p>
                      <a:pPr algn="ctr"/>
                      <a:r>
                        <a:rPr sz="1400" b="1">
                          <a:solidFill>
                            <a:srgbClr val="B32D2D"/>
                          </a:solidFill>
                          <a:latin typeface="Segoe UI"/>
                        </a:rPr>
                        <a:t>0.03</a:t>
                      </a:r>
                    </a:p>
                  </a:txBody>
                  <a:tcPr>
                    <a:solidFill>
                      <a:srgbClr val="F2F5F9"/>
                    </a:solidFill>
                  </a:tcPr>
                </a:tc>
                <a:tc>
                  <a:txBody>
                    <a:bodyPr/>
                    <a:lstStyle/>
                    <a:p>
                      <a:pPr algn="ctr"/>
                      <a:r>
                        <a:rPr sz="1400" b="0">
                          <a:solidFill>
                            <a:srgbClr val="1A1D24"/>
                          </a:solidFill>
                          <a:latin typeface="Segoe UI"/>
                        </a:rPr>
                        <a:t>0.09</a:t>
                      </a:r>
                    </a:p>
                  </a:txBody>
                  <a:tcPr>
                    <a:solidFill>
                      <a:srgbClr val="F2F5F9"/>
                    </a:solidFill>
                  </a:tcPr>
                </a:tc>
                <a:tc>
                  <a:txBody>
                    <a:bodyPr/>
                    <a:lstStyle/>
                    <a:p>
                      <a:pPr algn="ctr"/>
                      <a:r>
                        <a:rPr sz="1400" b="1">
                          <a:solidFill>
                            <a:srgbClr val="1B7F4B"/>
                          </a:solidFill>
                          <a:latin typeface="Segoe UI"/>
                        </a:rPr>
                        <a:t>0.99</a:t>
                      </a:r>
                    </a:p>
                  </a:txBody>
                  <a:tcPr>
                    <a:solidFill>
                      <a:srgbClr val="F2F5F9"/>
                    </a:solidFill>
                  </a:tcPr>
                </a:tc>
              </a:tr>
              <a:tr h="429768">
                <a:tc>
                  <a:txBody>
                    <a:bodyPr/>
                    <a:lstStyle/>
                    <a:p>
                      <a:pPr algn="l"/>
                      <a:r>
                        <a:rPr sz="1400" b="0">
                          <a:solidFill>
                            <a:srgbClr val="1A1D24"/>
                          </a:solidFill>
                          <a:latin typeface="Segoe UI"/>
                        </a:rPr>
                        <a:t>Just truncating the sentence</a:t>
                      </a:r>
                    </a:p>
                  </a:txBody>
                  <a:tcPr>
                    <a:solidFill>
                      <a:srgbClr val="FFFFFF"/>
                    </a:solidFill>
                  </a:tcPr>
                </a:tc>
                <a:tc>
                  <a:txBody>
                    <a:bodyPr/>
                    <a:lstStyle/>
                    <a:p>
                      <a:pPr algn="ctr"/>
                      <a:r>
                        <a:rPr sz="1400" b="1">
                          <a:solidFill>
                            <a:srgbClr val="1B7F4B"/>
                          </a:solidFill>
                          <a:latin typeface="Segoe UI"/>
                        </a:rPr>
                        <a:t>0.93</a:t>
                      </a:r>
                    </a:p>
                  </a:txBody>
                  <a:tcPr>
                    <a:solidFill>
                      <a:srgbClr val="FFFFFF"/>
                    </a:solidFill>
                  </a:tcPr>
                </a:tc>
                <a:tc>
                  <a:txBody>
                    <a:bodyPr/>
                    <a:lstStyle/>
                    <a:p>
                      <a:pPr algn="ctr"/>
                      <a:r>
                        <a:rPr sz="1400" b="1">
                          <a:solidFill>
                            <a:srgbClr val="1B7F4B"/>
                          </a:solidFill>
                          <a:latin typeface="Segoe UI"/>
                        </a:rPr>
                        <a:t>0.73</a:t>
                      </a:r>
                    </a:p>
                  </a:txBody>
                  <a:tcPr>
                    <a:solidFill>
                      <a:srgbClr val="FFFFFF"/>
                    </a:solidFill>
                  </a:tcPr>
                </a:tc>
                <a:tc>
                  <a:txBody>
                    <a:bodyPr/>
                    <a:lstStyle/>
                    <a:p>
                      <a:pPr algn="ctr"/>
                      <a:r>
                        <a:rPr sz="1400" b="0">
                          <a:solidFill>
                            <a:srgbClr val="1A1D24"/>
                          </a:solidFill>
                          <a:latin typeface="Segoe UI"/>
                        </a:rPr>
                        <a:t>0.02</a:t>
                      </a:r>
                    </a:p>
                  </a:txBody>
                  <a:tcPr>
                    <a:solidFill>
                      <a:srgbClr val="FFFFFF"/>
                    </a:solidFill>
                  </a:tcPr>
                </a:tc>
                <a:tc>
                  <a:txBody>
                    <a:bodyPr/>
                    <a:lstStyle/>
                    <a:p>
                      <a:pPr algn="ctr"/>
                      <a:r>
                        <a:rPr sz="1400" b="1">
                          <a:solidFill>
                            <a:srgbClr val="B32D2D"/>
                          </a:solidFill>
                          <a:latin typeface="Segoe UI"/>
                        </a:rPr>
                        <a:t>0.08</a:t>
                      </a:r>
                    </a:p>
                  </a:txBody>
                  <a:tcPr>
                    <a:solidFill>
                      <a:srgbClr val="FFFFFF"/>
                    </a:solidFill>
                  </a:tcPr>
                </a:tc>
              </a:tr>
            </a:tbl>
          </a:graphicData>
        </a:graphic>
      </p:graphicFrame>
      <p:sp>
        <p:nvSpPr>
          <p:cNvPr id="5" name="TextBox 4"/>
          <p:cNvSpPr txBox="1"/>
          <p:nvPr/>
        </p:nvSpPr>
        <p:spPr>
          <a:xfrm>
            <a:off x="640080" y="3136392"/>
            <a:ext cx="10881360" cy="91440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Read this as: our best model so far scored 0.325 on column 1, and the data's ceiling is 0.92 — so this is a MODELLING problem, not a data problem. Green light to train.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But the same table killed our headline claim</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We wanted to claim: 'each vaguer answer never adds anything the detailed one didn't say' — so stopping early is safe.</a:t>
            </a:r>
          </a:p>
          <a:p>
            <a:pPr algn="l">
              <a:lnSpc>
                <a:spcPct val="115000"/>
              </a:lnSpc>
              <a:spcAft>
                <a:spcPts val="1000"/>
              </a:spcAft>
            </a:pPr>
          </a:p>
          <a:p>
            <a:pPr algn="l">
              <a:lnSpc>
                <a:spcPct val="115000"/>
              </a:lnSpc>
              <a:spcAft>
                <a:spcPts val="1000"/>
              </a:spcAft>
            </a:pPr>
            <a:r>
              <a:rPr sz="1800" b="0">
                <a:solidFill>
                  <a:srgbClr val="1A1D24"/>
                </a:solidFill>
                <a:latin typeface="Segoe UI"/>
              </a:rPr>
              <a:t>Problem 1 — our own gold data only does that 5% of the time. GPT rewrites sentences rather than deleting from them, so new words appear constantly.</a:t>
            </a:r>
          </a:p>
          <a:p>
            <a:pPr algn="l">
              <a:lnSpc>
                <a:spcPct val="115000"/>
              </a:lnSpc>
              <a:spcAft>
                <a:spcPts val="1000"/>
              </a:spcAft>
            </a:pPr>
          </a:p>
          <a:p>
            <a:pPr algn="l">
              <a:lnSpc>
                <a:spcPct val="115000"/>
              </a:lnSpc>
              <a:spcAft>
                <a:spcPts val="1000"/>
              </a:spcAft>
            </a:pPr>
            <a:r>
              <a:rPr sz="1800" b="0">
                <a:solidFill>
                  <a:srgbClr val="1A1D24"/>
                </a:solidFill>
                <a:latin typeface="Segoe UI"/>
              </a:rPr>
              <a:t>Problem 2 — plain TRUNCATION scores 0.73 on it. Cutting a sentence in half is trivially 'never adds anything new'. Scissors beat us.</a:t>
            </a:r>
          </a:p>
          <a:p>
            <a:pPr algn="l">
              <a:lnSpc>
                <a:spcPct val="115000"/>
              </a:lnSpc>
              <a:spcAft>
                <a:spcPts val="1000"/>
              </a:spcAft>
            </a:pPr>
          </a:p>
          <a:p>
            <a:pPr algn="l">
              <a:lnSpc>
                <a:spcPct val="115000"/>
              </a:lnSpc>
              <a:spcAft>
                <a:spcPts val="1000"/>
              </a:spcAft>
            </a:pPr>
            <a:r>
              <a:rPr sz="1800" b="0">
                <a:solidFill>
                  <a:srgbClr val="1A1D24"/>
                </a:solidFill>
                <a:latin typeface="Segoe UI"/>
              </a:rPr>
              <a:t>So that property alone is not a contribution. But look at the last column: truncation produces a complete sentence only 8% of the time.</a:t>
            </a:r>
          </a:p>
          <a:p>
            <a:pPr algn="l">
              <a:lnSpc>
                <a:spcPct val="115000"/>
              </a:lnSpc>
              <a:spcAft>
                <a:spcPts val="1000"/>
              </a:spcAft>
            </a:pPr>
          </a:p>
          <a:p>
            <a:pPr algn="l">
              <a:lnSpc>
                <a:spcPct val="115000"/>
              </a:lnSpc>
              <a:spcAft>
                <a:spcPts val="1000"/>
              </a:spcAft>
            </a:pPr>
            <a:r>
              <a:rPr sz="1800" b="0">
                <a:solidFill>
                  <a:srgbClr val="1A1D24"/>
                </a:solidFill>
                <a:latin typeface="Segoe UI"/>
              </a:rPr>
              <a:t>New headline metric — USABLE: a rung counts only if it is a complete sentence AND adds nothing new AND invents nothing.</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Catching this now, from data, is much cheaper than catching it in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scoreboard the model has to beat</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59" cy="2103120"/>
        </p:xfrm>
        <a:graphic>
          <a:graphicData uri="http://schemas.openxmlformats.org/drawingml/2006/table">
            <a:tbl>
              <a:tblPr firstRow="1" bandRow="1">
                <a:tableStyleId>{5C22544A-7EE6-4342-B048-85BDC9FD1C3A}</a:tableStyleId>
              </a:tblPr>
              <a:tblGrid>
                <a:gridCol w="4185138"/>
                <a:gridCol w="2008866"/>
                <a:gridCol w="4687355"/>
              </a:tblGrid>
              <a:tr h="420624">
                <a:tc>
                  <a:txBody>
                    <a:bodyPr/>
                    <a:lstStyle/>
                    <a:p>
                      <a:pPr algn="l"/>
                      <a:r>
                        <a:rPr sz="1400" b="1">
                          <a:solidFill>
                            <a:srgbClr val="FFFFFF"/>
                          </a:solidFill>
                          <a:latin typeface="Segoe UI"/>
                        </a:rPr>
                        <a:t>Approach</a:t>
                      </a:r>
                    </a:p>
                  </a:txBody>
                  <a:tcPr>
                    <a:solidFill>
                      <a:srgbClr val="1A1D24"/>
                    </a:solidFill>
                  </a:tcPr>
                </a:tc>
                <a:tc>
                  <a:txBody>
                    <a:bodyPr/>
                    <a:lstStyle/>
                    <a:p>
                      <a:pPr algn="ctr"/>
                      <a:r>
                        <a:rPr sz="1400" b="1">
                          <a:solidFill>
                            <a:srgbClr val="FFFFFF"/>
                          </a:solidFill>
                          <a:latin typeface="Segoe UI"/>
                        </a:rPr>
                        <a:t>USABLE score</a:t>
                      </a:r>
                    </a:p>
                  </a:txBody>
                  <a:tcPr>
                    <a:solidFill>
                      <a:srgbClr val="1A1D24"/>
                    </a:solidFill>
                  </a:tcPr>
                </a:tc>
                <a:tc>
                  <a:txBody>
                    <a:bodyPr/>
                    <a:lstStyle/>
                    <a:p>
                      <a:pPr algn="ctr"/>
                      <a:r>
                        <a:rPr sz="1400" b="1">
                          <a:solidFill>
                            <a:srgbClr val="FFFFFF"/>
                          </a:solidFill>
                          <a:latin typeface="Segoe UI"/>
                        </a:rPr>
                        <a:t>What it tells us</a:t>
                      </a:r>
                    </a:p>
                  </a:txBody>
                  <a:tcPr>
                    <a:solidFill>
                      <a:srgbClr val="1A1D24"/>
                    </a:solidFill>
                  </a:tcPr>
                </a:tc>
              </a:tr>
              <a:tr h="420624">
                <a:tc>
                  <a:txBody>
                    <a:bodyPr/>
                    <a:lstStyle/>
                    <a:p>
                      <a:pPr algn="l"/>
                      <a:r>
                        <a:rPr sz="1400" b="0">
                          <a:solidFill>
                            <a:srgbClr val="1A1D24"/>
                          </a:solidFill>
                          <a:latin typeface="Segoe UI"/>
                        </a:rPr>
                        <a:t>Truncate the sentence</a:t>
                      </a:r>
                    </a:p>
                  </a:txBody>
                  <a:tcPr>
                    <a:solidFill>
                      <a:srgbClr val="FFFFFF"/>
                    </a:solidFill>
                  </a:tcPr>
                </a:tc>
                <a:tc>
                  <a:txBody>
                    <a:bodyPr/>
                    <a:lstStyle/>
                    <a:p>
                      <a:pPr algn="ctr"/>
                      <a:r>
                        <a:rPr sz="1400" b="0">
                          <a:solidFill>
                            <a:srgbClr val="1A1D24"/>
                          </a:solidFill>
                          <a:latin typeface="Segoe UI"/>
                        </a:rPr>
                        <a:t>0.08</a:t>
                      </a:r>
                    </a:p>
                  </a:txBody>
                  <a:tcPr>
                    <a:solidFill>
                      <a:srgbClr val="FFFFFF"/>
                    </a:solidFill>
                  </a:tcPr>
                </a:tc>
                <a:tc>
                  <a:txBody>
                    <a:bodyPr/>
                    <a:lstStyle/>
                    <a:p>
                      <a:pPr algn="ctr"/>
                      <a:r>
                        <a:rPr sz="1400" b="0">
                          <a:solidFill>
                            <a:srgbClr val="1A1D24"/>
                          </a:solidFill>
                          <a:latin typeface="Segoe UI"/>
                        </a:rPr>
                        <a:t>Trivially consistent, but produces fragments</a:t>
                      </a:r>
                    </a:p>
                  </a:txBody>
                  <a:tcPr>
                    <a:solidFill>
                      <a:srgbClr val="FFFFFF"/>
                    </a:solidFill>
                  </a:tcPr>
                </a:tc>
              </a:tr>
              <a:tr h="420624">
                <a:tc>
                  <a:txBody>
                    <a:bodyPr/>
                    <a:lstStyle/>
                    <a:p>
                      <a:pPr algn="l"/>
                      <a:r>
                        <a:rPr sz="1400" b="0">
                          <a:solidFill>
                            <a:srgbClr val="1A1D24"/>
                          </a:solidFill>
                          <a:latin typeface="Segoe UI"/>
                        </a:rPr>
                        <a:t>GPT-written ladders (our training data)</a:t>
                      </a:r>
                    </a:p>
                  </a:txBody>
                  <a:tcPr>
                    <a:solidFill>
                      <a:srgbClr val="F2F5F9"/>
                    </a:solidFill>
                  </a:tcPr>
                </a:tc>
                <a:tc>
                  <a:txBody>
                    <a:bodyPr/>
                    <a:lstStyle/>
                    <a:p>
                      <a:pPr algn="ctr"/>
                      <a:r>
                        <a:rPr sz="1400" b="0">
                          <a:solidFill>
                            <a:srgbClr val="1A1D24"/>
                          </a:solidFill>
                          <a:latin typeface="Segoe UI"/>
                        </a:rPr>
                        <a:t>0.33</a:t>
                      </a:r>
                    </a:p>
                  </a:txBody>
                  <a:tcPr>
                    <a:solidFill>
                      <a:srgbClr val="F2F5F9"/>
                    </a:solidFill>
                  </a:tcPr>
                </a:tc>
                <a:tc>
                  <a:txBody>
                    <a:bodyPr/>
                    <a:lstStyle/>
                    <a:p>
                      <a:pPr algn="ctr"/>
                      <a:r>
                        <a:rPr sz="1400" b="0">
                          <a:solidFill>
                            <a:srgbClr val="1A1D24"/>
                          </a:solidFill>
                          <a:latin typeface="Segoe UI"/>
                        </a:rPr>
                        <a:t>The natural-language target</a:t>
                      </a:r>
                    </a:p>
                  </a:txBody>
                  <a:tcPr>
                    <a:solidFill>
                      <a:srgbClr val="F2F5F9"/>
                    </a:solidFill>
                  </a:tcPr>
                </a:tc>
              </a:tr>
              <a:tr h="420624">
                <a:tc>
                  <a:txBody>
                    <a:bodyPr/>
                    <a:lstStyle/>
                    <a:p>
                      <a:pPr algn="l"/>
                      <a:r>
                        <a:rPr sz="1400" b="0">
                          <a:solidFill>
                            <a:srgbClr val="1A1D24"/>
                          </a:solidFill>
                          <a:latin typeface="Segoe UI"/>
                        </a:rPr>
                        <a:t>Rule-based ladders (new, built this week)</a:t>
                      </a:r>
                    </a:p>
                  </a:txBody>
                  <a:tcPr>
                    <a:solidFill>
                      <a:srgbClr val="FFFFFF"/>
                    </a:solidFill>
                  </a:tcPr>
                </a:tc>
                <a:tc>
                  <a:txBody>
                    <a:bodyPr/>
                    <a:lstStyle/>
                    <a:p>
                      <a:pPr algn="ctr"/>
                      <a:r>
                        <a:rPr sz="1400" b="0">
                          <a:solidFill>
                            <a:srgbClr val="1A1D24"/>
                          </a:solidFill>
                          <a:latin typeface="Segoe UI"/>
                        </a:rPr>
                        <a:t>0.56</a:t>
                      </a:r>
                    </a:p>
                  </a:txBody>
                  <a:tcPr>
                    <a:solidFill>
                      <a:srgbClr val="FFFFFF"/>
                    </a:solidFill>
                  </a:tcPr>
                </a:tc>
                <a:tc>
                  <a:txBody>
                    <a:bodyPr/>
                    <a:lstStyle/>
                    <a:p>
                      <a:pPr algn="ctr"/>
                      <a:r>
                        <a:rPr sz="1400" b="0">
                          <a:solidFill>
                            <a:srgbClr val="1A1D24"/>
                          </a:solidFill>
                          <a:latin typeface="Segoe UI"/>
                        </a:rPr>
                        <a:t>Deletion-based, so consistency holds by construction</a:t>
                      </a:r>
                    </a:p>
                  </a:txBody>
                  <a:tcPr>
                    <a:solidFill>
                      <a:srgbClr val="FFFFFF"/>
                    </a:solidFill>
                  </a:tcPr>
                </a:tc>
              </a:tr>
              <a:tr h="420624">
                <a:tc>
                  <a:txBody>
                    <a:bodyPr/>
                    <a:lstStyle/>
                    <a:p>
                      <a:pPr algn="l"/>
                      <a:r>
                        <a:rPr sz="1400" b="0">
                          <a:solidFill>
                            <a:srgbClr val="1A1D24"/>
                          </a:solidFill>
                          <a:latin typeface="Segoe UI"/>
                        </a:rPr>
                        <a:t>Our model</a:t>
                      </a:r>
                    </a:p>
                  </a:txBody>
                  <a:tcPr>
                    <a:solidFill>
                      <a:srgbClr val="F2F5F9"/>
                    </a:solidFill>
                  </a:tcPr>
                </a:tc>
                <a:tc>
                  <a:txBody>
                    <a:bodyPr/>
                    <a:lstStyle/>
                    <a:p>
                      <a:pPr algn="ctr"/>
                      <a:r>
                        <a:rPr sz="1400" b="0">
                          <a:solidFill>
                            <a:srgbClr val="1A1D24"/>
                          </a:solidFill>
                          <a:latin typeface="Segoe UI"/>
                        </a:rPr>
                        <a:t>to be measured</a:t>
                      </a:r>
                    </a:p>
                  </a:txBody>
                  <a:tcPr>
                    <a:solidFill>
                      <a:srgbClr val="F2F5F9"/>
                    </a:solidFill>
                  </a:tcPr>
                </a:tc>
                <a:tc>
                  <a:txBody>
                    <a:bodyPr/>
                    <a:lstStyle/>
                    <a:p>
                      <a:pPr algn="ctr"/>
                      <a:r>
                        <a:rPr sz="1400" b="0">
                          <a:solidFill>
                            <a:srgbClr val="1A1D24"/>
                          </a:solidFill>
                          <a:latin typeface="Segoe UI"/>
                        </a:rPr>
                        <a:t>Must clear 0.33 to be interesting</a:t>
                      </a:r>
                    </a:p>
                  </a:txBody>
                  <a:tcPr>
                    <a:solidFill>
                      <a:srgbClr val="F2F5F9"/>
                    </a:solidFill>
                  </a:tcPr>
                </a:tc>
              </a:tr>
            </a:tbl>
          </a:graphicData>
        </a:graphic>
      </p:graphicFrame>
      <p:sp>
        <p:nvSpPr>
          <p:cNvPr id="5" name="TextBox 4"/>
          <p:cNvSpPr txBox="1"/>
          <p:nvPr/>
        </p:nvSpPr>
        <p:spPr>
          <a:xfrm>
            <a:off x="640080" y="3520440"/>
            <a:ext cx="10881360" cy="91440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USABLE = complete sentence AND adds nothing specific that the finer rung lacked AND invents nothing. This is the number to put on the first slide of the paper.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194560"/>
            <a:ext cx="12191695" cy="18288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23160"/>
            <a:ext cx="10515600" cy="36576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PART 3</a:t>
            </a:r>
          </a:p>
        </p:txBody>
      </p:sp>
      <p:sp>
        <p:nvSpPr>
          <p:cNvPr id="4" name="TextBox 3"/>
          <p:cNvSpPr txBox="1"/>
          <p:nvPr/>
        </p:nvSpPr>
        <p:spPr>
          <a:xfrm>
            <a:off x="822960" y="2788920"/>
            <a:ext cx="10515600" cy="914400"/>
          </a:xfrm>
          <a:prstGeom prst="rect">
            <a:avLst/>
          </a:prstGeom>
          <a:noFill/>
        </p:spPr>
        <p:txBody>
          <a:bodyPr wrap="square">
            <a:spAutoFit/>
          </a:bodyPr>
          <a:lstStyle/>
          <a:p>
            <a:pPr algn="l">
              <a:lnSpc>
                <a:spcPct val="115000"/>
              </a:lnSpc>
              <a:spcAft>
                <a:spcPts val="600"/>
              </a:spcAft>
            </a:pPr>
            <a:r>
              <a:rPr sz="3400" b="1">
                <a:solidFill>
                  <a:srgbClr val="1A1D24"/>
                </a:solidFill>
                <a:latin typeface="Segoe UI"/>
              </a:rPr>
              <a:t>What we rebuilt, and why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memory itself: gist vs details</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25880"/>
            <a:ext cx="5120640" cy="365760"/>
          </a:xfrm>
          <a:prstGeom prst="rect">
            <a:avLst/>
          </a:prstGeom>
          <a:noFill/>
        </p:spPr>
        <p:txBody>
          <a:bodyPr wrap="square">
            <a:spAutoFit/>
          </a:bodyPr>
          <a:lstStyle/>
          <a:p>
            <a:pPr algn="l">
              <a:lnSpc>
                <a:spcPct val="115000"/>
              </a:lnSpc>
              <a:spcAft>
                <a:spcPts val="600"/>
              </a:spcAft>
            </a:pPr>
            <a:r>
              <a:rPr sz="1700" b="1">
                <a:solidFill>
                  <a:srgbClr val="B32D2D"/>
                </a:solidFill>
                <a:latin typeface="Segoe UI"/>
              </a:rPr>
              <a:t>Before</a:t>
            </a:r>
          </a:p>
        </p:txBody>
      </p:sp>
      <p:sp>
        <p:nvSpPr>
          <p:cNvPr id="5" name="TextBox 4"/>
          <p:cNvSpPr txBox="1"/>
          <p:nvPr/>
        </p:nvSpPr>
        <p:spPr>
          <a:xfrm>
            <a:off x="685800" y="1783080"/>
            <a:ext cx="5120640" cy="3840480"/>
          </a:xfrm>
          <a:prstGeom prst="rect">
            <a:avLst/>
          </a:prstGeom>
          <a:noFill/>
        </p:spPr>
        <p:txBody>
          <a:bodyPr wrap="square">
            <a:spAutoFit/>
          </a:bodyPr>
          <a:lstStyle/>
          <a:p>
            <a:pPr algn="l">
              <a:lnSpc>
                <a:spcPct val="115000"/>
              </a:lnSpc>
              <a:spcAft>
                <a:spcPts val="900"/>
              </a:spcAft>
            </a:pPr>
            <a:r>
              <a:rPr sz="1600" b="0">
                <a:solidFill>
                  <a:srgbClr val="1A1D24"/>
                </a:solidFill>
                <a:latin typeface="Segoe UI"/>
              </a:rPr>
              <a:t>The gist and the details were both a single linear layer on the same vector.</a:t>
            </a:r>
          </a:p>
          <a:p>
            <a:pPr algn="l">
              <a:lnSpc>
                <a:spcPct val="115000"/>
              </a:lnSpc>
              <a:spcAft>
                <a:spcPts val="900"/>
              </a:spcAft>
            </a:pPr>
          </a:p>
          <a:p>
            <a:pPr algn="l">
              <a:lnSpc>
                <a:spcPct val="115000"/>
              </a:lnSpc>
              <a:spcAft>
                <a:spcPts val="900"/>
              </a:spcAft>
            </a:pPr>
            <a:r>
              <a:rPr sz="1600" b="0">
                <a:solidFill>
                  <a:srgbClr val="1A1D24"/>
                </a:solidFill>
                <a:latin typeface="Segoe UI"/>
              </a:rPr>
              <a:t>So they were not really different things — any separation had to come from the loss, and the only loss was 'rebuild the sentence'.</a:t>
            </a:r>
          </a:p>
          <a:p>
            <a:pPr algn="l">
              <a:lnSpc>
                <a:spcPct val="115000"/>
              </a:lnSpc>
              <a:spcAft>
                <a:spcPts val="900"/>
              </a:spcAft>
            </a:pPr>
          </a:p>
          <a:p>
            <a:pPr algn="l">
              <a:lnSpc>
                <a:spcPct val="115000"/>
              </a:lnSpc>
              <a:spcAft>
                <a:spcPts val="900"/>
              </a:spcAft>
            </a:pPr>
            <a:r>
              <a:rPr sz="1600" b="0">
                <a:solidFill>
                  <a:srgbClr val="1A1D24"/>
                </a:solidFill>
                <a:latin typeface="Segoe UI"/>
              </a:rPr>
              <a:t>Nothing ever checked that the gist contained the gist.</a:t>
            </a:r>
          </a:p>
        </p:txBody>
      </p:sp>
      <p:sp>
        <p:nvSpPr>
          <p:cNvPr id="6" name="TextBox 5"/>
          <p:cNvSpPr txBox="1"/>
          <p:nvPr/>
        </p:nvSpPr>
        <p:spPr>
          <a:xfrm>
            <a:off x="6355080" y="1325880"/>
            <a:ext cx="5120640" cy="365760"/>
          </a:xfrm>
          <a:prstGeom prst="rect">
            <a:avLst/>
          </a:prstGeom>
          <a:noFill/>
        </p:spPr>
        <p:txBody>
          <a:bodyPr wrap="square">
            <a:spAutoFit/>
          </a:bodyPr>
          <a:lstStyle/>
          <a:p>
            <a:pPr algn="l">
              <a:lnSpc>
                <a:spcPct val="115000"/>
              </a:lnSpc>
              <a:spcAft>
                <a:spcPts val="600"/>
              </a:spcAft>
            </a:pPr>
            <a:r>
              <a:rPr sz="1700" b="1">
                <a:solidFill>
                  <a:srgbClr val="1B7F4B"/>
                </a:solidFill>
                <a:latin typeface="Segoe UI"/>
              </a:rPr>
              <a:t>Now</a:t>
            </a:r>
          </a:p>
        </p:txBody>
      </p:sp>
      <p:sp>
        <p:nvSpPr>
          <p:cNvPr id="7" name="TextBox 6"/>
          <p:cNvSpPr txBox="1"/>
          <p:nvPr/>
        </p:nvSpPr>
        <p:spPr>
          <a:xfrm>
            <a:off x="6355080" y="1783080"/>
            <a:ext cx="5120640" cy="3840480"/>
          </a:xfrm>
          <a:prstGeom prst="rect">
            <a:avLst/>
          </a:prstGeom>
          <a:noFill/>
        </p:spPr>
        <p:txBody>
          <a:bodyPr wrap="square">
            <a:spAutoFit/>
          </a:bodyPr>
          <a:lstStyle/>
          <a:p>
            <a:pPr algn="l">
              <a:lnSpc>
                <a:spcPct val="115000"/>
              </a:lnSpc>
              <a:spcAft>
                <a:spcPts val="900"/>
              </a:spcAft>
            </a:pPr>
            <a:r>
              <a:rPr sz="1600" b="0">
                <a:solidFill>
                  <a:srgbClr val="1A1D24"/>
                </a:solidFill>
                <a:latin typeface="Segoe UI"/>
              </a:rPr>
              <a:t>Gist: an attention layer picks WHICH parts matter, then a small network compresses them. Length-normalised so it behaves as a stable cue.</a:t>
            </a:r>
          </a:p>
          <a:p>
            <a:pPr algn="l">
              <a:lnSpc>
                <a:spcPct val="115000"/>
              </a:lnSpc>
              <a:spcAft>
                <a:spcPts val="900"/>
              </a:spcAft>
            </a:pPr>
          </a:p>
          <a:p>
            <a:pPr algn="l">
              <a:lnSpc>
                <a:spcPct val="115000"/>
              </a:lnSpc>
              <a:spcAft>
                <a:spcPts val="900"/>
              </a:spcAft>
            </a:pPr>
            <a:r>
              <a:rPr sz="1600" b="0">
                <a:solidFill>
                  <a:srgbClr val="1A1D24"/>
                </a:solidFill>
                <a:latin typeface="Segoe UI"/>
              </a:rPr>
              <a:t>Details: slots can talk to each other, and the output is scale-controlled.</a:t>
            </a:r>
          </a:p>
          <a:p>
            <a:pPr algn="l">
              <a:lnSpc>
                <a:spcPct val="115000"/>
              </a:lnSpc>
              <a:spcAft>
                <a:spcPts val="900"/>
              </a:spcAft>
            </a:pPr>
          </a:p>
          <a:p>
            <a:pPr algn="l">
              <a:lnSpc>
                <a:spcPct val="115000"/>
              </a:lnSpc>
              <a:spcAft>
                <a:spcPts val="900"/>
              </a:spcAft>
            </a:pPr>
            <a:r>
              <a:rPr sz="1600" b="0">
                <a:solidFill>
                  <a:srgbClr val="1A1D24"/>
                </a:solidFill>
                <a:latin typeface="Segoe UI"/>
              </a:rPr>
              <a:t>Three new training signals: write the summary from the gist alone; put the gist near an off-the-shelf sentence embedding; keep gist and details from duplicating each other.</a:t>
            </a:r>
          </a:p>
        </p:txBody>
      </p:sp>
      <p:sp>
        <p:nvSpPr>
          <p:cNvPr id="8" name="TextBox 7"/>
          <p:cNvSpPr txBox="1"/>
          <p:nvPr/>
        </p:nvSpPr>
        <p:spPr>
          <a:xfrm>
            <a:off x="685800" y="5852160"/>
            <a:ext cx="10789920" cy="64008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The second of those is the bridge to question answering: if the gist lives in a standard search space, a QUESTION lands next to it for free.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most interesting change: give forgetting a floor</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Standard diffusion destroys everything — at maximum noise you have pure static.</a:t>
            </a:r>
          </a:p>
          <a:p>
            <a:pPr algn="l">
              <a:lnSpc>
                <a:spcPct val="115000"/>
              </a:lnSpc>
              <a:spcAft>
                <a:spcPts val="1000"/>
              </a:spcAft>
            </a:pPr>
          </a:p>
          <a:p>
            <a:pPr algn="l">
              <a:lnSpc>
                <a:spcPct val="115000"/>
              </a:lnSpc>
              <a:spcAft>
                <a:spcPts val="1000"/>
              </a:spcAft>
            </a:pPr>
            <a:r>
              <a:rPr sz="1800" b="0">
                <a:solidFill>
                  <a:srgbClr val="1A1D24"/>
                </a:solidFill>
                <a:latin typeface="Segoe UI"/>
              </a:rPr>
              <a:t>So our 'most abstract' rung was anchored on nothing, which is exactly where the old runs produced gibberish.</a:t>
            </a:r>
          </a:p>
          <a:p>
            <a:pPr algn="l">
              <a:lnSpc>
                <a:spcPct val="115000"/>
              </a:lnSpc>
              <a:spcAft>
                <a:spcPts val="1000"/>
              </a:spcAft>
            </a:pPr>
          </a:p>
          <a:p>
            <a:pPr algn="l">
              <a:lnSpc>
                <a:spcPct val="115000"/>
              </a:lnSpc>
              <a:spcAft>
                <a:spcPts val="1000"/>
              </a:spcAft>
            </a:pPr>
            <a:r>
              <a:rPr sz="1800" b="0">
                <a:solidFill>
                  <a:srgbClr val="1A1D24"/>
                </a:solidFill>
                <a:latin typeface="Segoe UI"/>
              </a:rPr>
              <a:t>Change: we add noise to (details MINUS gist) instead of to everything.</a:t>
            </a:r>
          </a:p>
          <a:p>
            <a:pPr algn="l">
              <a:lnSpc>
                <a:spcPct val="115000"/>
              </a:lnSpc>
              <a:spcAft>
                <a:spcPts val="1000"/>
              </a:spcAft>
            </a:pPr>
          </a:p>
          <a:p>
            <a:pPr algn="l">
              <a:lnSpc>
                <a:spcPct val="115000"/>
              </a:lnSpc>
              <a:spcAft>
                <a:spcPts val="1000"/>
              </a:spcAft>
            </a:pPr>
            <a:r>
              <a:rPr sz="1800" b="0">
                <a:solidFill>
                  <a:srgbClr val="1A1D24"/>
                </a:solidFill>
                <a:latin typeface="Segoe UI"/>
              </a:rPr>
              <a:t>Now maximum noise = the gist plus static, not static. Details dissolve; the gist survives — by construction, not by hope.</a:t>
            </a:r>
          </a:p>
          <a:p>
            <a:pPr algn="l">
              <a:lnSpc>
                <a:spcPct val="115000"/>
              </a:lnSpc>
              <a:spcAft>
                <a:spcPts val="1000"/>
              </a:spcAft>
            </a:pPr>
          </a:p>
          <a:p>
            <a:pPr algn="l">
              <a:lnSpc>
                <a:spcPct val="115000"/>
              </a:lnSpc>
              <a:spcAft>
                <a:spcPts val="1000"/>
              </a:spcAft>
            </a:pPr>
            <a:r>
              <a:rPr sz="1800" b="0">
                <a:solidFill>
                  <a:srgbClr val="1A1D24"/>
                </a:solidFill>
                <a:latin typeface="Segoe UI"/>
              </a:rPr>
              <a:t>It is about fifteen lines of code and no new mathematics: ordinary diffusion on a shifted variable.</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This is the change worth writing a paper around. It makes the memory metaphor structurally true instead of aspirational.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Everything else that changed</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60" cy="3255264"/>
        </p:xfrm>
        <a:graphic>
          <a:graphicData uri="http://schemas.openxmlformats.org/drawingml/2006/table">
            <a:tbl>
              <a:tblPr firstRow="1" bandRow="1">
                <a:tableStyleId>{5C22544A-7EE6-4342-B048-85BDC9FD1C3A}</a:tableStyleId>
              </a:tblPr>
              <a:tblGrid>
                <a:gridCol w="1541526"/>
                <a:gridCol w="4805934"/>
                <a:gridCol w="4533900"/>
              </a:tblGrid>
              <a:tr h="406908">
                <a:tc>
                  <a:txBody>
                    <a:bodyPr/>
                    <a:lstStyle/>
                    <a:p>
                      <a:pPr algn="l"/>
                      <a:r>
                        <a:rPr sz="1300" b="1">
                          <a:solidFill>
                            <a:srgbClr val="FFFFFF"/>
                          </a:solidFill>
                          <a:latin typeface="Segoe UI"/>
                        </a:rPr>
                        <a:t>Part</a:t>
                      </a:r>
                    </a:p>
                  </a:txBody>
                  <a:tcPr>
                    <a:solidFill>
                      <a:srgbClr val="1A1D24"/>
                    </a:solidFill>
                  </a:tcPr>
                </a:tc>
                <a:tc>
                  <a:txBody>
                    <a:bodyPr/>
                    <a:lstStyle/>
                    <a:p>
                      <a:pPr algn="ctr"/>
                      <a:r>
                        <a:rPr sz="1300" b="1">
                          <a:solidFill>
                            <a:srgbClr val="FFFFFF"/>
                          </a:solidFill>
                          <a:latin typeface="Segoe UI"/>
                        </a:rPr>
                        <a:t>Change</a:t>
                      </a:r>
                    </a:p>
                  </a:txBody>
                  <a:tcPr>
                    <a:solidFill>
                      <a:srgbClr val="1A1D24"/>
                    </a:solidFill>
                  </a:tcPr>
                </a:tc>
                <a:tc>
                  <a:txBody>
                    <a:bodyPr/>
                    <a:lstStyle/>
                    <a:p>
                      <a:pPr algn="ctr"/>
                      <a:r>
                        <a:rPr sz="1300" b="1">
                          <a:solidFill>
                            <a:srgbClr val="FFFFFF"/>
                          </a:solidFill>
                          <a:latin typeface="Segoe UI"/>
                        </a:rPr>
                        <a:t>Why</a:t>
                      </a:r>
                    </a:p>
                  </a:txBody>
                  <a:tcPr>
                    <a:solidFill>
                      <a:srgbClr val="1A1D24"/>
                    </a:solidFill>
                  </a:tcPr>
                </a:tc>
              </a:tr>
              <a:tr h="406908">
                <a:tc>
                  <a:txBody>
                    <a:bodyPr/>
                    <a:lstStyle/>
                    <a:p>
                      <a:pPr algn="l"/>
                      <a:r>
                        <a:rPr sz="1300" b="0">
                          <a:solidFill>
                            <a:srgbClr val="1A1D24"/>
                          </a:solidFill>
                          <a:latin typeface="Segoe UI"/>
                        </a:rPr>
                        <a:t>Data</a:t>
                      </a:r>
                    </a:p>
                  </a:txBody>
                  <a:tcPr>
                    <a:solidFill>
                      <a:srgbClr val="FFFFFF"/>
                    </a:solidFill>
                  </a:tcPr>
                </a:tc>
                <a:tc>
                  <a:txBody>
                    <a:bodyPr/>
                    <a:lstStyle/>
                    <a:p>
                      <a:pPr algn="ctr"/>
                      <a:r>
                        <a:rPr sz="1300" b="0">
                          <a:solidFill>
                            <a:srgbClr val="1A1D24"/>
                          </a:solidFill>
                          <a:latin typeface="Segoe UI"/>
                        </a:rPr>
                        <a:t>Ladder now starts at the original sentence; sentence limit 64 → 128</a:t>
                      </a:r>
                    </a:p>
                  </a:txBody>
                  <a:tcPr>
                    <a:solidFill>
                      <a:srgbClr val="FFFFFF"/>
                    </a:solidFill>
                  </a:tcPr>
                </a:tc>
                <a:tc>
                  <a:txBody>
                    <a:bodyPr/>
                    <a:lstStyle/>
                    <a:p>
                      <a:pPr algn="ctr"/>
                      <a:r>
                        <a:rPr sz="1300" b="0">
                          <a:solidFill>
                            <a:srgbClr val="1A1D24"/>
                          </a:solidFill>
                          <a:latin typeface="Segoe UI"/>
                        </a:rPr>
                        <a:t>Full detail was unreachable; a third of sentences were being cut</a:t>
                      </a:r>
                    </a:p>
                  </a:txBody>
                  <a:tcPr>
                    <a:solidFill>
                      <a:srgbClr val="FFFFFF"/>
                    </a:solidFill>
                  </a:tcPr>
                </a:tc>
              </a:tr>
              <a:tr h="406908">
                <a:tc>
                  <a:txBody>
                    <a:bodyPr/>
                    <a:lstStyle/>
                    <a:p>
                      <a:pPr algn="l"/>
                      <a:r>
                        <a:rPr sz="1300" b="0">
                          <a:solidFill>
                            <a:srgbClr val="1A1D24"/>
                          </a:solidFill>
                          <a:latin typeface="Segoe UI"/>
                        </a:rPr>
                        <a:t>Data</a:t>
                      </a:r>
                    </a:p>
                  </a:txBody>
                  <a:tcPr>
                    <a:solidFill>
                      <a:srgbClr val="F2F5F9"/>
                    </a:solidFill>
                  </a:tcPr>
                </a:tc>
                <a:tc>
                  <a:txBody>
                    <a:bodyPr/>
                    <a:lstStyle/>
                    <a:p>
                      <a:pPr algn="ctr"/>
                      <a:r>
                        <a:rPr sz="1300" b="0">
                          <a:solidFill>
                            <a:srgbClr val="1A1D24"/>
                          </a:solidFill>
                          <a:latin typeface="Segoe UI"/>
                        </a:rPr>
                        <a:t>Contrastive partner = another rung of the same ladder</a:t>
                      </a:r>
                    </a:p>
                  </a:txBody>
                  <a:tcPr>
                    <a:solidFill>
                      <a:srgbClr val="F2F5F9"/>
                    </a:solidFill>
                  </a:tcPr>
                </a:tc>
                <a:tc>
                  <a:txBody>
                    <a:bodyPr/>
                    <a:lstStyle/>
                    <a:p>
                      <a:pPr algn="ctr"/>
                      <a:r>
                        <a:rPr sz="1300" b="0">
                          <a:solidFill>
                            <a:srgbClr val="1A1D24"/>
                          </a:solidFill>
                          <a:latin typeface="Segoe UI"/>
                        </a:rPr>
                        <a:t>Free, and it IS the claim: the gist must not change as detail fades</a:t>
                      </a:r>
                    </a:p>
                  </a:txBody>
                  <a:tcPr>
                    <a:solidFill>
                      <a:srgbClr val="F2F5F9"/>
                    </a:solidFill>
                  </a:tcPr>
                </a:tc>
              </a:tr>
              <a:tr h="406908">
                <a:tc>
                  <a:txBody>
                    <a:bodyPr/>
                    <a:lstStyle/>
                    <a:p>
                      <a:pPr algn="l"/>
                      <a:r>
                        <a:rPr sz="1300" b="0">
                          <a:solidFill>
                            <a:srgbClr val="1A1D24"/>
                          </a:solidFill>
                          <a:latin typeface="Segoe UI"/>
                        </a:rPr>
                        <a:t>Encoder</a:t>
                      </a:r>
                    </a:p>
                  </a:txBody>
                  <a:tcPr>
                    <a:solidFill>
                      <a:srgbClr val="FFFFFF"/>
                    </a:solidFill>
                  </a:tcPr>
                </a:tc>
                <a:tc>
                  <a:txBody>
                    <a:bodyPr/>
                    <a:lstStyle/>
                    <a:p>
                      <a:pPr algn="ctr"/>
                      <a:r>
                        <a:rPr sz="1300" b="0">
                          <a:solidFill>
                            <a:srgbClr val="1A1D24"/>
                          </a:solidFill>
                          <a:latin typeface="Segoe UI"/>
                        </a:rPr>
                        <a:t>t5-small → flan-t5-base; separate frozen encoder for the gist</a:t>
                      </a:r>
                    </a:p>
                  </a:txBody>
                  <a:tcPr>
                    <a:solidFill>
                      <a:srgbClr val="FFFFFF"/>
                    </a:solidFill>
                  </a:tcPr>
                </a:tc>
                <a:tc>
                  <a:txBody>
                    <a:bodyPr/>
                    <a:lstStyle/>
                    <a:p>
                      <a:pPr algn="ctr"/>
                      <a:r>
                        <a:rPr sz="1300" b="0">
                          <a:solidFill>
                            <a:srgbClr val="1A1D24"/>
                          </a:solidFill>
                          <a:latin typeface="Segoe UI"/>
                        </a:rPr>
                        <a:t>Bigger win than more parameters; makes question-as-cue work later</a:t>
                      </a:r>
                    </a:p>
                  </a:txBody>
                  <a:tcPr>
                    <a:solidFill>
                      <a:srgbClr val="FFFFFF"/>
                    </a:solidFill>
                  </a:tcPr>
                </a:tc>
              </a:tr>
              <a:tr h="406908">
                <a:tc>
                  <a:txBody>
                    <a:bodyPr/>
                    <a:lstStyle/>
                    <a:p>
                      <a:pPr algn="l"/>
                      <a:r>
                        <a:rPr sz="1300" b="0">
                          <a:solidFill>
                            <a:srgbClr val="1A1D24"/>
                          </a:solidFill>
                          <a:latin typeface="Segoe UI"/>
                        </a:rPr>
                        <a:t>Projection</a:t>
                      </a:r>
                    </a:p>
                  </a:txBody>
                  <a:tcPr>
                    <a:solidFill>
                      <a:srgbClr val="F2F5F9"/>
                    </a:solidFill>
                  </a:tcPr>
                </a:tc>
                <a:tc>
                  <a:txBody>
                    <a:bodyPr/>
                    <a:lstStyle/>
                    <a:p>
                      <a:pPr algn="ctr"/>
                      <a:r>
                        <a:rPr sz="1300" b="0">
                          <a:solidFill>
                            <a:srgbClr val="1A1D24"/>
                          </a:solidFill>
                          <a:latin typeface="Segoe UI"/>
                        </a:rPr>
                        <a:t>Turn on attention; let it read the gist directly; give it its own loss</a:t>
                      </a:r>
                    </a:p>
                  </a:txBody>
                  <a:tcPr>
                    <a:solidFill>
                      <a:srgbClr val="F2F5F9"/>
                    </a:solidFill>
                  </a:tcPr>
                </a:tc>
                <a:tc>
                  <a:txBody>
                    <a:bodyPr/>
                    <a:lstStyle/>
                    <a:p>
                      <a:pPr algn="ctr"/>
                      <a:r>
                        <a:rPr sz="1300" b="0">
                          <a:solidFill>
                            <a:srgbClr val="1A1D24"/>
                          </a:solidFill>
                          <a:latin typeface="Segoe UI"/>
                        </a:rPr>
                        <a:t>It was a per-slot MLP with no target of its own</a:t>
                      </a:r>
                    </a:p>
                  </a:txBody>
                  <a:tcPr>
                    <a:solidFill>
                      <a:srgbClr val="F2F5F9"/>
                    </a:solidFill>
                  </a:tcPr>
                </a:tc>
              </a:tr>
              <a:tr h="406908">
                <a:tc>
                  <a:txBody>
                    <a:bodyPr/>
                    <a:lstStyle/>
                    <a:p>
                      <a:pPr algn="l"/>
                      <a:r>
                        <a:rPr sz="1300" b="0">
                          <a:solidFill>
                            <a:srgbClr val="1A1D24"/>
                          </a:solidFill>
                          <a:latin typeface="Segoe UI"/>
                        </a:rPr>
                        <a:t>Decoder</a:t>
                      </a:r>
                    </a:p>
                  </a:txBody>
                  <a:tcPr>
                    <a:solidFill>
                      <a:srgbClr val="FFFFFF"/>
                    </a:solidFill>
                  </a:tcPr>
                </a:tc>
                <a:tc>
                  <a:txBody>
                    <a:bodyPr/>
                    <a:lstStyle/>
                    <a:p>
                      <a:pPr algn="ctr"/>
                      <a:r>
                        <a:rPr sz="1300" b="0">
                          <a:solidFill>
                            <a:srgbClr val="1A1D24"/>
                          </a:solidFill>
                          <a:latin typeface="Segoe UI"/>
                        </a:rPr>
                        <a:t>Told which level of detail to produce, via a 'level token'</a:t>
                      </a:r>
                    </a:p>
                  </a:txBody>
                  <a:tcPr>
                    <a:solidFill>
                      <a:srgbClr val="FFFFFF"/>
                    </a:solidFill>
                  </a:tcPr>
                </a:tc>
                <a:tc>
                  <a:txBody>
                    <a:bodyPr/>
                    <a:lstStyle/>
                    <a:p>
                      <a:pPr algn="ctr"/>
                      <a:r>
                        <a:rPr sz="1300" b="0">
                          <a:solidFill>
                            <a:srgbClr val="1A1D24"/>
                          </a:solidFill>
                          <a:latin typeface="Segoe UI"/>
                        </a:rPr>
                        <a:t>It had to GUESS whether a short answer was intended or a failure</a:t>
                      </a:r>
                    </a:p>
                  </a:txBody>
                  <a:tcPr>
                    <a:solidFill>
                      <a:srgbClr val="FFFFFF"/>
                    </a:solidFill>
                  </a:tcPr>
                </a:tc>
              </a:tr>
              <a:tr h="406908">
                <a:tc>
                  <a:txBody>
                    <a:bodyPr/>
                    <a:lstStyle/>
                    <a:p>
                      <a:pPr algn="l"/>
                      <a:r>
                        <a:rPr sz="1300" b="0">
                          <a:solidFill>
                            <a:srgbClr val="1A1D24"/>
                          </a:solidFill>
                          <a:latin typeface="Segoe UI"/>
                        </a:rPr>
                        <a:t>Diffusion</a:t>
                      </a:r>
                    </a:p>
                  </a:txBody>
                  <a:tcPr>
                    <a:solidFill>
                      <a:srgbClr val="F2F5F9"/>
                    </a:solidFill>
                  </a:tcPr>
                </a:tc>
                <a:tc>
                  <a:txBody>
                    <a:bodyPr/>
                    <a:lstStyle/>
                    <a:p>
                      <a:pPr algn="ctr"/>
                      <a:r>
                        <a:rPr sz="1300" b="0">
                          <a:solidFill>
                            <a:srgbClr val="1A1D24"/>
                          </a:solidFill>
                          <a:latin typeface="Segoe UI"/>
                        </a:rPr>
                        <a:t>Predict the clean latent directly; multi-step only</a:t>
                      </a:r>
                    </a:p>
                  </a:txBody>
                  <a:tcPr>
                    <a:solidFill>
                      <a:srgbClr val="F2F5F9"/>
                    </a:solidFill>
                  </a:tcPr>
                </a:tc>
                <a:tc>
                  <a:txBody>
                    <a:bodyPr/>
                    <a:lstStyle/>
                    <a:p>
                      <a:pPr algn="ctr"/>
                      <a:r>
                        <a:rPr sz="1300" b="0">
                          <a:solidFill>
                            <a:srgbClr val="1A1D24"/>
                          </a:solidFill>
                          <a:latin typeface="Segoe UI"/>
                        </a:rPr>
                        <a:t>Removes the divide-by-almost-zero that broke high-noise readout</a:t>
                      </a:r>
                    </a:p>
                  </a:txBody>
                  <a:tcPr>
                    <a:solidFill>
                      <a:srgbClr val="F2F5F9"/>
                    </a:solidFill>
                  </a:tcPr>
                </a:tc>
              </a:tr>
              <a:tr h="406908">
                <a:tc>
                  <a:txBody>
                    <a:bodyPr/>
                    <a:lstStyle/>
                    <a:p>
                      <a:pPr algn="l"/>
                      <a:r>
                        <a:rPr sz="1300" b="0">
                          <a:solidFill>
                            <a:srgbClr val="1A1D24"/>
                          </a:solidFill>
                          <a:latin typeface="Segoe UI"/>
                        </a:rPr>
                        <a:t>Evaluation</a:t>
                      </a:r>
                    </a:p>
                  </a:txBody>
                  <a:tcPr>
                    <a:solidFill>
                      <a:srgbClr val="FFFFFF"/>
                    </a:solidFill>
                  </a:tcPr>
                </a:tc>
                <a:tc>
                  <a:txBody>
                    <a:bodyPr/>
                    <a:lstStyle/>
                    <a:p>
                      <a:pPr algn="ctr"/>
                      <a:r>
                        <a:rPr sz="1300" b="0">
                          <a:solidFill>
                            <a:srgbClr val="1A1D24"/>
                          </a:solidFill>
                          <a:latin typeface="Segoe UI"/>
                        </a:rPr>
                        <a:t>Count facts by type instead of embedding similarity</a:t>
                      </a:r>
                    </a:p>
                  </a:txBody>
                  <a:tcPr>
                    <a:solidFill>
                      <a:srgbClr val="FFFFFF"/>
                    </a:solidFill>
                  </a:tcPr>
                </a:tc>
                <a:tc>
                  <a:txBody>
                    <a:bodyPr/>
                    <a:lstStyle/>
                    <a:p>
                      <a:pPr algn="ctr"/>
                      <a:r>
                        <a:rPr sz="1300" b="0">
                          <a:solidFill>
                            <a:srgbClr val="1A1D24"/>
                          </a:solidFill>
                          <a:latin typeface="Segoe UI"/>
                        </a:rPr>
                        <a:t>BERTScore cannot tell Paris from London</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194560"/>
            <a:ext cx="12191695" cy="18288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23160"/>
            <a:ext cx="10515600" cy="36576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PART 4</a:t>
            </a:r>
          </a:p>
        </p:txBody>
      </p:sp>
      <p:sp>
        <p:nvSpPr>
          <p:cNvPr id="4" name="TextBox 3"/>
          <p:cNvSpPr txBox="1"/>
          <p:nvPr/>
        </p:nvSpPr>
        <p:spPr>
          <a:xfrm>
            <a:off x="822960" y="2788920"/>
            <a:ext cx="10515600" cy="914400"/>
          </a:xfrm>
          <a:prstGeom prst="rect">
            <a:avLst/>
          </a:prstGeom>
          <a:noFill/>
        </p:spPr>
        <p:txBody>
          <a:bodyPr wrap="square">
            <a:spAutoFit/>
          </a:bodyPr>
          <a:lstStyle/>
          <a:p>
            <a:pPr algn="l">
              <a:lnSpc>
                <a:spcPct val="115000"/>
              </a:lnSpc>
              <a:spcAft>
                <a:spcPts val="600"/>
              </a:spcAft>
            </a:pPr>
            <a:r>
              <a:rPr sz="3400" b="1">
                <a:solidFill>
                  <a:srgbClr val="1A1D24"/>
                </a:solidFill>
                <a:latin typeface="Segoe UI"/>
              </a:rPr>
              <a:t>How we know it works before spending a penny on GPUs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Everything is testable on a laptop</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133 automated tests, all passing, ~50 seconds, no GPU and no internet.</a:t>
            </a:r>
          </a:p>
          <a:p>
            <a:pPr algn="l">
              <a:lnSpc>
                <a:spcPct val="115000"/>
              </a:lnSpc>
              <a:spcAft>
                <a:spcPts val="1000"/>
              </a:spcAft>
            </a:pPr>
          </a:p>
          <a:p>
            <a:pPr algn="l">
              <a:lnSpc>
                <a:spcPct val="115000"/>
              </a:lnSpc>
              <a:spcAft>
                <a:spcPts val="1000"/>
              </a:spcAft>
            </a:pPr>
            <a:r>
              <a:rPr sz="1800" b="0">
                <a:solidFill>
                  <a:srgbClr val="1A1D24"/>
                </a:solidFill>
                <a:latin typeface="Segoe UI"/>
              </a:rPr>
              <a:t>The whole 3-stage pipeline runs end to end on CPU in 37 seconds using a tiny stand-in model: python -m tools.smoke</a:t>
            </a:r>
          </a:p>
          <a:p>
            <a:pPr algn="l">
              <a:lnSpc>
                <a:spcPct val="115000"/>
              </a:lnSpc>
              <a:spcAft>
                <a:spcPts val="1000"/>
              </a:spcAft>
            </a:pPr>
          </a:p>
          <a:p>
            <a:pPr algn="l">
              <a:lnSpc>
                <a:spcPct val="115000"/>
              </a:lnSpc>
              <a:spcAft>
                <a:spcPts val="1000"/>
              </a:spcAft>
            </a:pPr>
            <a:r>
              <a:rPr sz="1800" b="0">
                <a:solidFill>
                  <a:srgbClr val="1A1D24"/>
                </a:solidFill>
                <a:latin typeface="Segoe UI"/>
              </a:rPr>
              <a:t>Tests specifically check the things that went wrong last time:</a:t>
            </a:r>
          </a:p>
          <a:p>
            <a:pPr algn="l" lvl="1">
              <a:lnSpc>
                <a:spcPct val="115000"/>
              </a:lnSpc>
              <a:spcAft>
                <a:spcPts val="1000"/>
              </a:spcAft>
            </a:pPr>
            <a:r>
              <a:rPr sz="1800" b="0">
                <a:solidFill>
                  <a:srgbClr val="1A1D24"/>
                </a:solidFill>
                <a:latin typeface="Segoe UI"/>
              </a:rPr>
              <a:t>does every component actually receive gradient?</a:t>
            </a:r>
          </a:p>
          <a:p>
            <a:pPr algn="l" lvl="1">
              <a:lnSpc>
                <a:spcPct val="115000"/>
              </a:lnSpc>
              <a:spcAft>
                <a:spcPts val="1000"/>
              </a:spcAft>
            </a:pPr>
            <a:r>
              <a:rPr sz="1800" b="0">
                <a:solidFill>
                  <a:srgbClr val="1A1D24"/>
                </a:solidFill>
                <a:latin typeface="Segoe UI"/>
              </a:rPr>
              <a:t>does the frozen part stay frozen?</a:t>
            </a:r>
          </a:p>
          <a:p>
            <a:pPr algn="l" lvl="1">
              <a:lnSpc>
                <a:spcPct val="115000"/>
              </a:lnSpc>
              <a:spcAft>
                <a:spcPts val="1000"/>
              </a:spcAft>
            </a:pPr>
            <a:r>
              <a:rPr sz="1800" b="0">
                <a:solidFill>
                  <a:srgbClr val="1A1D24"/>
                </a:solidFill>
                <a:latin typeface="Segoe UI"/>
              </a:rPr>
              <a:t>is stage 3 fed exactly what inference will feed it?</a:t>
            </a:r>
          </a:p>
          <a:p>
            <a:pPr algn="l" lvl="1">
              <a:lnSpc>
                <a:spcPct val="115000"/>
              </a:lnSpc>
              <a:spcAft>
                <a:spcPts val="1000"/>
              </a:spcAft>
            </a:pPr>
            <a:r>
              <a:rPr sz="1800" b="0">
                <a:solidFill>
                  <a:srgbClr val="1A1D24"/>
                </a:solidFill>
                <a:latin typeface="Segoe UI"/>
              </a:rPr>
              <a:t>does a saved checkpoint reload to identical outputs?</a:t>
            </a:r>
          </a:p>
          <a:p>
            <a:pPr algn="l" lvl="1">
              <a:lnSpc>
                <a:spcPct val="115000"/>
              </a:lnSpc>
              <a:spcAft>
                <a:spcPts val="1000"/>
              </a:spcAft>
            </a:pPr>
            <a:r>
              <a:rPr sz="1800" b="0">
                <a:solidFill>
                  <a:srgbClr val="1A1D24"/>
                </a:solidFill>
                <a:latin typeface="Segoe UI"/>
              </a:rPr>
              <a:t>is the same trajectory reproducible twice?</a:t>
            </a:r>
          </a:p>
          <a:p>
            <a:pPr algn="l">
              <a:lnSpc>
                <a:spcPct val="115000"/>
              </a:lnSpc>
              <a:spcAft>
                <a:spcPts val="1000"/>
              </a:spcAft>
            </a:pPr>
          </a:p>
          <a:p>
            <a:pPr algn="l">
              <a:lnSpc>
                <a:spcPct val="115000"/>
              </a:lnSpc>
              <a:spcAft>
                <a:spcPts val="1000"/>
              </a:spcAft>
            </a:pPr>
            <a:r>
              <a:rPr sz="1800" b="0">
                <a:solidFill>
                  <a:srgbClr val="1A1D24"/>
                </a:solidFill>
                <a:latin typeface="Segoe UI"/>
              </a:rPr>
              <a:t>Two bugs were caught this way already — one where the 'random noise' was accidentally identical to the data.</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What this cannot tell us is whether the idea works. It tells us that when we get GPUs, 'press go' is a scheduling problem, not a debugging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194560"/>
            <a:ext cx="12191695" cy="18288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23160"/>
            <a:ext cx="10515600" cy="36576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PART 5</a:t>
            </a:r>
          </a:p>
        </p:txBody>
      </p:sp>
      <p:sp>
        <p:nvSpPr>
          <p:cNvPr id="4" name="TextBox 3"/>
          <p:cNvSpPr txBox="1"/>
          <p:nvPr/>
        </p:nvSpPr>
        <p:spPr>
          <a:xfrm>
            <a:off x="822960" y="2788920"/>
            <a:ext cx="10515600" cy="914400"/>
          </a:xfrm>
          <a:prstGeom prst="rect">
            <a:avLst/>
          </a:prstGeom>
          <a:noFill/>
        </p:spPr>
        <p:txBody>
          <a:bodyPr wrap="square">
            <a:spAutoFit/>
          </a:bodyPr>
          <a:lstStyle/>
          <a:p>
            <a:pPr algn="l">
              <a:lnSpc>
                <a:spcPct val="115000"/>
              </a:lnSpc>
              <a:spcAft>
                <a:spcPts val="600"/>
              </a:spcAft>
            </a:pPr>
            <a:r>
              <a:rPr sz="3400" b="1">
                <a:solidFill>
                  <a:srgbClr val="1A1D24"/>
                </a:solidFill>
                <a:latin typeface="Segoe UI"/>
              </a:rPr>
              <a:t>What to run, in what order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The experiments, and the command for each</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60" cy="3639312"/>
        </p:xfrm>
        <a:graphic>
          <a:graphicData uri="http://schemas.openxmlformats.org/drawingml/2006/table">
            <a:tbl>
              <a:tblPr firstRow="1" bandRow="1">
                <a:tableStyleId>{5C22544A-7EE6-4342-B048-85BDC9FD1C3A}</a:tableStyleId>
              </a:tblPr>
              <a:tblGrid>
                <a:gridCol w="453390"/>
                <a:gridCol w="3808476"/>
                <a:gridCol w="5259324"/>
                <a:gridCol w="1360170"/>
              </a:tblGrid>
              <a:tr h="404368">
                <a:tc>
                  <a:txBody>
                    <a:bodyPr/>
                    <a:lstStyle/>
                    <a:p>
                      <a:pPr algn="l"/>
                      <a:r>
                        <a:rPr sz="1300" b="1">
                          <a:solidFill>
                            <a:srgbClr val="FFFFFF"/>
                          </a:solidFill>
                          <a:latin typeface="Segoe UI"/>
                        </a:rPr>
                        <a:t>#</a:t>
                      </a:r>
                    </a:p>
                  </a:txBody>
                  <a:tcPr>
                    <a:solidFill>
                      <a:srgbClr val="1A1D24"/>
                    </a:solidFill>
                  </a:tcPr>
                </a:tc>
                <a:tc>
                  <a:txBody>
                    <a:bodyPr/>
                    <a:lstStyle/>
                    <a:p>
                      <a:pPr algn="ctr"/>
                      <a:r>
                        <a:rPr sz="1300" b="1">
                          <a:solidFill>
                            <a:srgbClr val="FFFFFF"/>
                          </a:solidFill>
                          <a:latin typeface="Segoe UI"/>
                        </a:rPr>
                        <a:t>Experiment</a:t>
                      </a:r>
                    </a:p>
                  </a:txBody>
                  <a:tcPr>
                    <a:solidFill>
                      <a:srgbClr val="1A1D24"/>
                    </a:solidFill>
                  </a:tcPr>
                </a:tc>
                <a:tc>
                  <a:txBody>
                    <a:bodyPr/>
                    <a:lstStyle/>
                    <a:p>
                      <a:pPr algn="ctr"/>
                      <a:r>
                        <a:rPr sz="1300" b="1">
                          <a:solidFill>
                            <a:srgbClr val="FFFFFF"/>
                          </a:solidFill>
                          <a:latin typeface="Segoe UI"/>
                        </a:rPr>
                        <a:t>Command</a:t>
                      </a:r>
                    </a:p>
                  </a:txBody>
                  <a:tcPr>
                    <a:solidFill>
                      <a:srgbClr val="1A1D24"/>
                    </a:solidFill>
                  </a:tcPr>
                </a:tc>
                <a:tc>
                  <a:txBody>
                    <a:bodyPr/>
                    <a:lstStyle/>
                    <a:p>
                      <a:pPr algn="ctr"/>
                      <a:r>
                        <a:rPr sz="1300" b="1">
                          <a:solidFill>
                            <a:srgbClr val="FFFFFF"/>
                          </a:solidFill>
                          <a:latin typeface="Segoe UI"/>
                        </a:rPr>
                        <a:t>GPU</a:t>
                      </a:r>
                    </a:p>
                  </a:txBody>
                  <a:tcPr>
                    <a:solidFill>
                      <a:srgbClr val="1A1D24"/>
                    </a:solidFill>
                  </a:tcPr>
                </a:tc>
              </a:tr>
              <a:tr h="404368">
                <a:tc>
                  <a:txBody>
                    <a:bodyPr/>
                    <a:lstStyle/>
                    <a:p>
                      <a:pPr algn="l"/>
                      <a:r>
                        <a:rPr sz="1300" b="0">
                          <a:solidFill>
                            <a:srgbClr val="1A1D24"/>
                          </a:solidFill>
                          <a:latin typeface="Segoe UI"/>
                        </a:rPr>
                        <a:t>0</a:t>
                      </a:r>
                    </a:p>
                  </a:txBody>
                  <a:tcPr>
                    <a:solidFill>
                      <a:srgbClr val="FFFFFF"/>
                    </a:solidFill>
                  </a:tcPr>
                </a:tc>
                <a:tc>
                  <a:txBody>
                    <a:bodyPr/>
                    <a:lstStyle/>
                    <a:p>
                      <a:pPr algn="ctr"/>
                      <a:r>
                        <a:rPr sz="1300" b="0">
                          <a:solidFill>
                            <a:srgbClr val="1A1D24"/>
                          </a:solidFill>
                          <a:latin typeface="Segoe UI"/>
                        </a:rPr>
                        <a:t>Is the latent at the right scale?</a:t>
                      </a:r>
                    </a:p>
                  </a:txBody>
                  <a:tcPr>
                    <a:solidFill>
                      <a:srgbClr val="FFFFFF"/>
                    </a:solidFill>
                  </a:tcPr>
                </a:tc>
                <a:tc>
                  <a:txBody>
                    <a:bodyPr/>
                    <a:lstStyle/>
                    <a:p>
                      <a:pPr algn="ctr"/>
                      <a:r>
                        <a:rPr sz="1300" b="0">
                          <a:solidFill>
                            <a:srgbClr val="1A1D24"/>
                          </a:solidFill>
                          <a:latin typeface="Segoe UI"/>
                        </a:rPr>
                        <a:t>python -m tools.diagnose_v0_scale --p0 &lt;ckpt&gt;</a:t>
                      </a:r>
                    </a:p>
                  </a:txBody>
                  <a:tcPr>
                    <a:solidFill>
                      <a:srgbClr val="FFFFFF"/>
                    </a:solidFill>
                  </a:tcPr>
                </a:tc>
                <a:tc>
                  <a:txBody>
                    <a:bodyPr/>
                    <a:lstStyle/>
                    <a:p>
                      <a:pPr algn="ctr"/>
                      <a:r>
                        <a:rPr sz="1300" b="0">
                          <a:solidFill>
                            <a:srgbClr val="1A1D24"/>
                          </a:solidFill>
                          <a:latin typeface="Segoe UI"/>
                        </a:rPr>
                        <a:t>10 min</a:t>
                      </a:r>
                    </a:p>
                  </a:txBody>
                  <a:tcPr>
                    <a:solidFill>
                      <a:srgbClr val="FFFFFF"/>
                    </a:solidFill>
                  </a:tcPr>
                </a:tc>
              </a:tr>
              <a:tr h="404368">
                <a:tc>
                  <a:txBody>
                    <a:bodyPr/>
                    <a:lstStyle/>
                    <a:p>
                      <a:pPr algn="l"/>
                      <a:r>
                        <a:rPr sz="1300" b="0">
                          <a:solidFill>
                            <a:srgbClr val="1A1D24"/>
                          </a:solidFill>
                          <a:latin typeface="Segoe UI"/>
                        </a:rPr>
                        <a:t>1</a:t>
                      </a:r>
                    </a:p>
                  </a:txBody>
                  <a:tcPr>
                    <a:solidFill>
                      <a:srgbClr val="F2F5F9"/>
                    </a:solidFill>
                  </a:tcPr>
                </a:tc>
                <a:tc>
                  <a:txBody>
                    <a:bodyPr/>
                    <a:lstStyle/>
                    <a:p>
                      <a:pPr algn="ctr"/>
                      <a:r>
                        <a:rPr sz="1300" b="0">
                          <a:solidFill>
                            <a:srgbClr val="1A1D24"/>
                          </a:solidFill>
                          <a:latin typeface="Segoe UI"/>
                        </a:rPr>
                        <a:t>Data ceiling  (DONE)</a:t>
                      </a:r>
                    </a:p>
                  </a:txBody>
                  <a:tcPr>
                    <a:solidFill>
                      <a:srgbClr val="F2F5F9"/>
                    </a:solidFill>
                  </a:tcPr>
                </a:tc>
                <a:tc>
                  <a:txBody>
                    <a:bodyPr/>
                    <a:lstStyle/>
                    <a:p>
                      <a:pPr algn="ctr"/>
                      <a:r>
                        <a:rPr sz="1300" b="0">
                          <a:solidFill>
                            <a:srgbClr val="1A1D24"/>
                          </a:solidFill>
                          <a:latin typeface="Segoe UI"/>
                        </a:rPr>
                        <a:t>python -m evaluation.ceiling</a:t>
                      </a:r>
                    </a:p>
                  </a:txBody>
                  <a:tcPr>
                    <a:solidFill>
                      <a:srgbClr val="F2F5F9"/>
                    </a:solidFill>
                  </a:tcPr>
                </a:tc>
                <a:tc>
                  <a:txBody>
                    <a:bodyPr/>
                    <a:lstStyle/>
                    <a:p>
                      <a:pPr algn="ctr"/>
                      <a:r>
                        <a:rPr sz="1300" b="0">
                          <a:solidFill>
                            <a:srgbClr val="1A1D24"/>
                          </a:solidFill>
                          <a:latin typeface="Segoe UI"/>
                        </a:rPr>
                        <a:t>none</a:t>
                      </a:r>
                    </a:p>
                  </a:txBody>
                  <a:tcPr>
                    <a:solidFill>
                      <a:srgbClr val="F2F5F9"/>
                    </a:solidFill>
                  </a:tcPr>
                </a:tc>
              </a:tr>
              <a:tr h="404368">
                <a:tc>
                  <a:txBody>
                    <a:bodyPr/>
                    <a:lstStyle/>
                    <a:p>
                      <a:pPr algn="l"/>
                      <a:r>
                        <a:rPr sz="1300" b="0">
                          <a:solidFill>
                            <a:srgbClr val="1A1D24"/>
                          </a:solidFill>
                          <a:latin typeface="Segoe UI"/>
                        </a:rPr>
                        <a:t>2</a:t>
                      </a:r>
                    </a:p>
                  </a:txBody>
                  <a:tcPr>
                    <a:solidFill>
                      <a:srgbClr val="FFFFFF"/>
                    </a:solidFill>
                  </a:tcPr>
                </a:tc>
                <a:tc>
                  <a:txBody>
                    <a:bodyPr/>
                    <a:lstStyle/>
                    <a:p>
                      <a:pPr algn="ctr"/>
                      <a:r>
                        <a:rPr sz="1300" b="0">
                          <a:solidFill>
                            <a:srgbClr val="1A1D24"/>
                          </a:solidFill>
                          <a:latin typeface="Segoe UI"/>
                        </a:rPr>
                        <a:t>Does a plain model already do this?</a:t>
                      </a:r>
                    </a:p>
                  </a:txBody>
                  <a:tcPr>
                    <a:solidFill>
                      <a:srgbClr val="FFFFFF"/>
                    </a:solidFill>
                  </a:tcPr>
                </a:tc>
                <a:tc>
                  <a:txBody>
                    <a:bodyPr/>
                    <a:lstStyle/>
                    <a:p>
                      <a:pPr algn="ctr"/>
                      <a:r>
                        <a:rPr sz="1300" b="0">
                          <a:solidFill>
                            <a:srgbClr val="1A1D24"/>
                          </a:solidFill>
                          <a:latin typeface="Segoe UI"/>
                        </a:rPr>
                        <a:t>python -m baselines.level_token</a:t>
                      </a:r>
                    </a:p>
                  </a:txBody>
                  <a:tcPr>
                    <a:solidFill>
                      <a:srgbClr val="FFFFFF"/>
                    </a:solidFill>
                  </a:tcPr>
                </a:tc>
                <a:tc>
                  <a:txBody>
                    <a:bodyPr/>
                    <a:lstStyle/>
                    <a:p>
                      <a:pPr algn="ctr"/>
                      <a:r>
                        <a:rPr sz="1300" b="0">
                          <a:solidFill>
                            <a:srgbClr val="1A1D24"/>
                          </a:solidFill>
                          <a:latin typeface="Segoe UI"/>
                        </a:rPr>
                        <a:t>~1 h</a:t>
                      </a:r>
                    </a:p>
                  </a:txBody>
                  <a:tcPr>
                    <a:solidFill>
                      <a:srgbClr val="FFFFFF"/>
                    </a:solidFill>
                  </a:tcPr>
                </a:tc>
              </a:tr>
              <a:tr h="404368">
                <a:tc>
                  <a:txBody>
                    <a:bodyPr/>
                    <a:lstStyle/>
                    <a:p>
                      <a:pPr algn="l"/>
                      <a:r>
                        <a:rPr sz="1300" b="0">
                          <a:solidFill>
                            <a:srgbClr val="1A1D24"/>
                          </a:solidFill>
                          <a:latin typeface="Segoe UI"/>
                        </a:rPr>
                        <a:t>3</a:t>
                      </a:r>
                    </a:p>
                  </a:txBody>
                  <a:tcPr>
                    <a:solidFill>
                      <a:srgbClr val="F2F5F9"/>
                    </a:solidFill>
                  </a:tcPr>
                </a:tc>
                <a:tc>
                  <a:txBody>
                    <a:bodyPr/>
                    <a:lstStyle/>
                    <a:p>
                      <a:pPr algn="ctr"/>
                      <a:r>
                        <a:rPr sz="1300" b="0">
                          <a:solidFill>
                            <a:srgbClr val="1A1D24"/>
                          </a:solidFill>
                          <a:latin typeface="Segoe UI"/>
                        </a:rPr>
                        <a:t>Train the autoencoder</a:t>
                      </a:r>
                    </a:p>
                  </a:txBody>
                  <a:tcPr>
                    <a:solidFill>
                      <a:srgbClr val="F2F5F9"/>
                    </a:solidFill>
                  </a:tcPr>
                </a:tc>
                <a:tc>
                  <a:txBody>
                    <a:bodyPr/>
                    <a:lstStyle/>
                    <a:p>
                      <a:pPr algn="ctr"/>
                      <a:r>
                        <a:rPr sz="1300" b="0">
                          <a:solidFill>
                            <a:srgbClr val="1A1D24"/>
                          </a:solidFill>
                          <a:latin typeface="Segoe UI"/>
                        </a:rPr>
                        <a:t>python -m training.train_p0 --preset full</a:t>
                      </a:r>
                    </a:p>
                  </a:txBody>
                  <a:tcPr>
                    <a:solidFill>
                      <a:srgbClr val="F2F5F9"/>
                    </a:solidFill>
                  </a:tcPr>
                </a:tc>
                <a:tc>
                  <a:txBody>
                    <a:bodyPr/>
                    <a:lstStyle/>
                    <a:p>
                      <a:pPr algn="ctr"/>
                      <a:r>
                        <a:rPr sz="1300" b="0">
                          <a:solidFill>
                            <a:srgbClr val="1A1D24"/>
                          </a:solidFill>
                          <a:latin typeface="Segoe UI"/>
                        </a:rPr>
                        <a:t>2-3 h</a:t>
                      </a:r>
                    </a:p>
                  </a:txBody>
                  <a:tcPr>
                    <a:solidFill>
                      <a:srgbClr val="F2F5F9"/>
                    </a:solidFill>
                  </a:tcPr>
                </a:tc>
              </a:tr>
              <a:tr h="404368">
                <a:tc>
                  <a:txBody>
                    <a:bodyPr/>
                    <a:lstStyle/>
                    <a:p>
                      <a:pPr algn="l"/>
                      <a:r>
                        <a:rPr sz="1300" b="0">
                          <a:solidFill>
                            <a:srgbClr val="1A1D24"/>
                          </a:solidFill>
                          <a:latin typeface="Segoe UI"/>
                        </a:rPr>
                        <a:t>4</a:t>
                      </a:r>
                    </a:p>
                  </a:txBody>
                  <a:tcPr>
                    <a:solidFill>
                      <a:srgbClr val="FFFFFF"/>
                    </a:solidFill>
                  </a:tcPr>
                </a:tc>
                <a:tc>
                  <a:txBody>
                    <a:bodyPr/>
                    <a:lstStyle/>
                    <a:p>
                      <a:pPr algn="ctr"/>
                      <a:r>
                        <a:rPr sz="1300" b="0">
                          <a:solidFill>
                            <a:srgbClr val="1A1D24"/>
                          </a:solidFill>
                          <a:latin typeface="Segoe UI"/>
                        </a:rPr>
                        <a:t>Train the denoiser</a:t>
                      </a:r>
                    </a:p>
                  </a:txBody>
                  <a:tcPr>
                    <a:solidFill>
                      <a:srgbClr val="FFFFFF"/>
                    </a:solidFill>
                  </a:tcPr>
                </a:tc>
                <a:tc>
                  <a:txBody>
                    <a:bodyPr/>
                    <a:lstStyle/>
                    <a:p>
                      <a:pPr algn="ctr"/>
                      <a:r>
                        <a:rPr sz="1300" b="0">
                          <a:solidFill>
                            <a:srgbClr val="1A1D24"/>
                          </a:solidFill>
                          <a:latin typeface="Segoe UI"/>
                        </a:rPr>
                        <a:t>python -m training.train_p1 --p0-checkpoint ...</a:t>
                      </a:r>
                    </a:p>
                  </a:txBody>
                  <a:tcPr>
                    <a:solidFill>
                      <a:srgbClr val="FFFFFF"/>
                    </a:solidFill>
                  </a:tcPr>
                </a:tc>
                <a:tc>
                  <a:txBody>
                    <a:bodyPr/>
                    <a:lstStyle/>
                    <a:p>
                      <a:pPr algn="ctr"/>
                      <a:r>
                        <a:rPr sz="1300" b="0">
                          <a:solidFill>
                            <a:srgbClr val="1A1D24"/>
                          </a:solidFill>
                          <a:latin typeface="Segoe UI"/>
                        </a:rPr>
                        <a:t>&lt;0.5 h</a:t>
                      </a:r>
                    </a:p>
                  </a:txBody>
                  <a:tcPr>
                    <a:solidFill>
                      <a:srgbClr val="FFFFFF"/>
                    </a:solidFill>
                  </a:tcPr>
                </a:tc>
              </a:tr>
              <a:tr h="404368">
                <a:tc>
                  <a:txBody>
                    <a:bodyPr/>
                    <a:lstStyle/>
                    <a:p>
                      <a:pPr algn="l"/>
                      <a:r>
                        <a:rPr sz="1300" b="0">
                          <a:solidFill>
                            <a:srgbClr val="1A1D24"/>
                          </a:solidFill>
                          <a:latin typeface="Segoe UI"/>
                        </a:rPr>
                        <a:t>5</a:t>
                      </a:r>
                    </a:p>
                  </a:txBody>
                  <a:tcPr>
                    <a:solidFill>
                      <a:srgbClr val="F2F5F9"/>
                    </a:solidFill>
                  </a:tcPr>
                </a:tc>
                <a:tc>
                  <a:txBody>
                    <a:bodyPr/>
                    <a:lstStyle/>
                    <a:p>
                      <a:pPr algn="ctr"/>
                      <a:r>
                        <a:rPr sz="1300" b="0">
                          <a:solidFill>
                            <a:srgbClr val="1A1D24"/>
                          </a:solidFill>
                          <a:latin typeface="Segoe UI"/>
                        </a:rPr>
                        <a:t>Train the projection + reader</a:t>
                      </a:r>
                    </a:p>
                  </a:txBody>
                  <a:tcPr>
                    <a:solidFill>
                      <a:srgbClr val="F2F5F9"/>
                    </a:solidFill>
                  </a:tcPr>
                </a:tc>
                <a:tc>
                  <a:txBody>
                    <a:bodyPr/>
                    <a:lstStyle/>
                    <a:p>
                      <a:pPr algn="ctr"/>
                      <a:r>
                        <a:rPr sz="1300" b="0">
                          <a:solidFill>
                            <a:srgbClr val="1A1D24"/>
                          </a:solidFill>
                          <a:latin typeface="Segoe UI"/>
                        </a:rPr>
                        <a:t>python -m training.train_p2 --p0-... --p1-...</a:t>
                      </a:r>
                    </a:p>
                  </a:txBody>
                  <a:tcPr>
                    <a:solidFill>
                      <a:srgbClr val="F2F5F9"/>
                    </a:solidFill>
                  </a:tcPr>
                </a:tc>
                <a:tc>
                  <a:txBody>
                    <a:bodyPr/>
                    <a:lstStyle/>
                    <a:p>
                      <a:pPr algn="ctr"/>
                      <a:r>
                        <a:rPr sz="1300" b="0">
                          <a:solidFill>
                            <a:srgbClr val="1A1D24"/>
                          </a:solidFill>
                          <a:latin typeface="Segoe UI"/>
                        </a:rPr>
                        <a:t>~2 h</a:t>
                      </a:r>
                    </a:p>
                  </a:txBody>
                  <a:tcPr>
                    <a:solidFill>
                      <a:srgbClr val="F2F5F9"/>
                    </a:solidFill>
                  </a:tcPr>
                </a:tc>
              </a:tr>
              <a:tr h="404368">
                <a:tc>
                  <a:txBody>
                    <a:bodyPr/>
                    <a:lstStyle/>
                    <a:p>
                      <a:pPr algn="l"/>
                      <a:r>
                        <a:rPr sz="1300" b="0">
                          <a:solidFill>
                            <a:srgbClr val="1A1D24"/>
                          </a:solidFill>
                          <a:latin typeface="Segoe UI"/>
                        </a:rPr>
                        <a:t>6</a:t>
                      </a:r>
                    </a:p>
                  </a:txBody>
                  <a:tcPr>
                    <a:solidFill>
                      <a:srgbClr val="FFFFFF"/>
                    </a:solidFill>
                  </a:tcPr>
                </a:tc>
                <a:tc>
                  <a:txBody>
                    <a:bodyPr/>
                    <a:lstStyle/>
                    <a:p>
                      <a:pPr algn="ctr"/>
                      <a:r>
                        <a:rPr sz="1300" b="0">
                          <a:solidFill>
                            <a:srgbClr val="1A1D24"/>
                          </a:solidFill>
                          <a:latin typeface="Segoe UI"/>
                        </a:rPr>
                        <a:t>Score it</a:t>
                      </a:r>
                    </a:p>
                  </a:txBody>
                  <a:tcPr>
                    <a:solidFill>
                      <a:srgbClr val="FFFFFF"/>
                    </a:solidFill>
                  </a:tcPr>
                </a:tc>
                <a:tc>
                  <a:txBody>
                    <a:bodyPr/>
                    <a:lstStyle/>
                    <a:p>
                      <a:pPr algn="ctr"/>
                      <a:r>
                        <a:rPr sz="1300" b="0">
                          <a:solidFill>
                            <a:srgbClr val="1A1D24"/>
                          </a:solidFill>
                          <a:latin typeface="Segoe UI"/>
                        </a:rPr>
                        <a:t>python -m evaluation.evaluate --p0 ... --p1 ... --p2 ...</a:t>
                      </a:r>
                    </a:p>
                  </a:txBody>
                  <a:tcPr>
                    <a:solidFill>
                      <a:srgbClr val="FFFFFF"/>
                    </a:solidFill>
                  </a:tcPr>
                </a:tc>
                <a:tc>
                  <a:txBody>
                    <a:bodyPr/>
                    <a:lstStyle/>
                    <a:p>
                      <a:pPr algn="ctr"/>
                      <a:r>
                        <a:rPr sz="1300" b="0">
                          <a:solidFill>
                            <a:srgbClr val="1A1D24"/>
                          </a:solidFill>
                          <a:latin typeface="Segoe UI"/>
                        </a:rPr>
                        <a:t>~1 h</a:t>
                      </a:r>
                    </a:p>
                  </a:txBody>
                  <a:tcPr>
                    <a:solidFill>
                      <a:srgbClr val="FFFFFF"/>
                    </a:solidFill>
                  </a:tcPr>
                </a:tc>
              </a:tr>
              <a:tr h="404368">
                <a:tc>
                  <a:txBody>
                    <a:bodyPr/>
                    <a:lstStyle/>
                    <a:p>
                      <a:pPr algn="l"/>
                      <a:r>
                        <a:rPr sz="1300" b="0">
                          <a:solidFill>
                            <a:srgbClr val="1A1D24"/>
                          </a:solidFill>
                          <a:latin typeface="Segoe UI"/>
                        </a:rPr>
                        <a:t>7</a:t>
                      </a:r>
                    </a:p>
                  </a:txBody>
                  <a:tcPr>
                    <a:solidFill>
                      <a:srgbClr val="F2F5F9"/>
                    </a:solidFill>
                  </a:tcPr>
                </a:tc>
                <a:tc>
                  <a:txBody>
                    <a:bodyPr/>
                    <a:lstStyle/>
                    <a:p>
                      <a:pPr algn="ctr"/>
                      <a:r>
                        <a:rPr sz="1300" b="0">
                          <a:solidFill>
                            <a:srgbClr val="1A1D24"/>
                          </a:solidFill>
                          <a:latin typeface="Segoe UI"/>
                        </a:rPr>
                        <a:t>Ablations (cue, slots, brackets)</a:t>
                      </a:r>
                    </a:p>
                  </a:txBody>
                  <a:tcPr>
                    <a:solidFill>
                      <a:srgbClr val="F2F5F9"/>
                    </a:solidFill>
                  </a:tcPr>
                </a:tc>
                <a:tc>
                  <a:txBody>
                    <a:bodyPr/>
                    <a:lstStyle/>
                    <a:p>
                      <a:pPr algn="ctr"/>
                      <a:r>
                        <a:rPr sz="1300" b="0">
                          <a:solidFill>
                            <a:srgbClr val="1A1D24"/>
                          </a:solidFill>
                          <a:latin typeface="Segoe UI"/>
                        </a:rPr>
                        <a:t>python -m ablations.runner --only ...</a:t>
                      </a:r>
                    </a:p>
                  </a:txBody>
                  <a:tcPr>
                    <a:solidFill>
                      <a:srgbClr val="F2F5F9"/>
                    </a:solidFill>
                  </a:tcPr>
                </a:tc>
                <a:tc>
                  <a:txBody>
                    <a:bodyPr/>
                    <a:lstStyle/>
                    <a:p>
                      <a:pPr algn="ctr"/>
                      <a:r>
                        <a:rPr sz="1300" b="0">
                          <a:solidFill>
                            <a:srgbClr val="1A1D24"/>
                          </a:solidFill>
                          <a:latin typeface="Segoe UI"/>
                        </a:rPr>
                        <a:t>~15 h</a:t>
                      </a:r>
                    </a:p>
                  </a:txBody>
                  <a:tcPr>
                    <a:solidFill>
                      <a:srgbClr val="F2F5F9"/>
                    </a:solidFill>
                  </a:tcPr>
                </a:tc>
              </a:tr>
            </a:tbl>
          </a:graphicData>
        </a:graphic>
      </p:graphicFrame>
      <p:sp>
        <p:nvSpPr>
          <p:cNvPr id="5" name="TextBox 4"/>
          <p:cNvSpPr txBox="1"/>
          <p:nvPr/>
        </p:nvSpPr>
        <p:spPr>
          <a:xfrm>
            <a:off x="640080" y="5056632"/>
            <a:ext cx="10881360" cy="91440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Experiment 2 is a decision point: if a plain 'level 3: &lt;sentence&gt;' model matches us on USABLE, the diffusion machinery is not justified on this task and we pivot to the question-answering setting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Three moments where we stop and reconsider</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GATE 0 — is the stored vector the right size? If it is far from 1, forgetting will happen all at once instead of gradually. Ten minutes, and it may explain the old 'cliff' behaviour entirely.</a:t>
            </a:r>
          </a:p>
          <a:p>
            <a:pPr algn="l">
              <a:lnSpc>
                <a:spcPct val="115000"/>
              </a:lnSpc>
              <a:spcAft>
                <a:spcPts val="1000"/>
              </a:spcAft>
            </a:pPr>
          </a:p>
          <a:p>
            <a:pPr algn="l">
              <a:lnSpc>
                <a:spcPct val="115000"/>
              </a:lnSpc>
              <a:spcAft>
                <a:spcPts val="1000"/>
              </a:spcAft>
            </a:pPr>
            <a:r>
              <a:rPr sz="1800" b="0">
                <a:solidFill>
                  <a:srgbClr val="1A1D24"/>
                </a:solidFill>
                <a:latin typeface="Segoe UI"/>
              </a:rPr>
              <a:t>GATE 1 — DONE. Data ceiling is 0.92 against our 0.325, so the problem is ours, not the data's. Proceed.</a:t>
            </a:r>
          </a:p>
          <a:p>
            <a:pPr algn="l">
              <a:lnSpc>
                <a:spcPct val="115000"/>
              </a:lnSpc>
              <a:spcAft>
                <a:spcPts val="1000"/>
              </a:spcAft>
            </a:pPr>
          </a:p>
          <a:p>
            <a:pPr algn="l">
              <a:lnSpc>
                <a:spcPct val="115000"/>
              </a:lnSpc>
              <a:spcAft>
                <a:spcPts val="1000"/>
              </a:spcAft>
            </a:pPr>
            <a:r>
              <a:rPr sz="1800" b="0">
                <a:solidFill>
                  <a:srgbClr val="1A1D24"/>
                </a:solidFill>
                <a:latin typeface="Segoe UI"/>
              </a:rPr>
              <a:t>GATE 2 — does the simple baseline already win? One GPU-hour. If yes, we change the claim rather than spend a month finding out.</a:t>
            </a:r>
          </a:p>
          <a:p>
            <a:pPr algn="l">
              <a:lnSpc>
                <a:spcPct val="115000"/>
              </a:lnSpc>
              <a:spcAft>
                <a:spcPts val="1000"/>
              </a:spcAft>
            </a:pPr>
          </a:p>
          <a:p>
            <a:pPr algn="l">
              <a:lnSpc>
                <a:spcPct val="115000"/>
              </a:lnSpc>
              <a:spcAft>
                <a:spcPts val="1000"/>
              </a:spcAft>
            </a:pPr>
            <a:r>
              <a:rPr sz="1800" b="0">
                <a:solidFill>
                  <a:srgbClr val="1A1D24"/>
                </a:solidFill>
                <a:latin typeface="Segoe UI"/>
              </a:rPr>
              <a:t>GATE 3 — shuffle the gist between examples. If recall barely changes, the gist is decorative and the whole cue story is dead. Twelve minutes.</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Each gate is cheap and each can save weeks. Gate 3 is the one that could most embarrass us in review, so we run it first among the trained ones.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What it costs</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371600"/>
          <a:ext cx="10881359" cy="2487168"/>
        </p:xfrm>
        <a:graphic>
          <a:graphicData uri="http://schemas.openxmlformats.org/drawingml/2006/table">
            <a:tbl>
              <a:tblPr firstRow="1" bandRow="1">
                <a:tableStyleId>{5C22544A-7EE6-4342-B048-85BDC9FD1C3A}</a:tableStyleId>
              </a:tblPr>
              <a:tblGrid>
                <a:gridCol w="3766624"/>
                <a:gridCol w="2092569"/>
                <a:gridCol w="5022166"/>
              </a:tblGrid>
              <a:tr h="414528">
                <a:tc>
                  <a:txBody>
                    <a:bodyPr/>
                    <a:lstStyle/>
                    <a:p>
                      <a:pPr algn="l"/>
                      <a:r>
                        <a:rPr sz="1400" b="1">
                          <a:solidFill>
                            <a:srgbClr val="FFFFFF"/>
                          </a:solidFill>
                          <a:latin typeface="Segoe UI"/>
                        </a:rPr>
                        <a:t>Item</a:t>
                      </a:r>
                    </a:p>
                  </a:txBody>
                  <a:tcPr>
                    <a:solidFill>
                      <a:srgbClr val="1A1D24"/>
                    </a:solidFill>
                  </a:tcPr>
                </a:tc>
                <a:tc>
                  <a:txBody>
                    <a:bodyPr/>
                    <a:lstStyle/>
                    <a:p>
                      <a:pPr algn="ctr"/>
                      <a:r>
                        <a:rPr sz="1400" b="1">
                          <a:solidFill>
                            <a:srgbClr val="FFFFFF"/>
                          </a:solidFill>
                          <a:latin typeface="Segoe UI"/>
                        </a:rPr>
                        <a:t>Amount</a:t>
                      </a:r>
                    </a:p>
                  </a:txBody>
                  <a:tcPr>
                    <a:solidFill>
                      <a:srgbClr val="1A1D24"/>
                    </a:solidFill>
                  </a:tcPr>
                </a:tc>
                <a:tc>
                  <a:txBody>
                    <a:bodyPr/>
                    <a:lstStyle/>
                    <a:p>
                      <a:pPr algn="ctr"/>
                      <a:r>
                        <a:rPr sz="1400" b="1">
                          <a:solidFill>
                            <a:srgbClr val="FFFFFF"/>
                          </a:solidFill>
                          <a:latin typeface="Segoe UI"/>
                        </a:rPr>
                        <a:t>Notes</a:t>
                      </a:r>
                    </a:p>
                  </a:txBody>
                  <a:tcPr>
                    <a:solidFill>
                      <a:srgbClr val="1A1D24"/>
                    </a:solidFill>
                  </a:tcPr>
                </a:tc>
              </a:tr>
              <a:tr h="414528">
                <a:tc>
                  <a:txBody>
                    <a:bodyPr/>
                    <a:lstStyle/>
                    <a:p>
                      <a:pPr algn="l"/>
                      <a:r>
                        <a:rPr sz="1400" b="0">
                          <a:solidFill>
                            <a:srgbClr val="1A1D24"/>
                          </a:solidFill>
                          <a:latin typeface="Segoe UI"/>
                        </a:rPr>
                        <a:t>Total GPU time</a:t>
                      </a:r>
                    </a:p>
                  </a:txBody>
                  <a:tcPr>
                    <a:solidFill>
                      <a:srgbClr val="FFFFFF"/>
                    </a:solidFill>
                  </a:tcPr>
                </a:tc>
                <a:tc>
                  <a:txBody>
                    <a:bodyPr/>
                    <a:lstStyle/>
                    <a:p>
                      <a:pPr algn="ctr"/>
                      <a:r>
                        <a:rPr sz="1400" b="0">
                          <a:solidFill>
                            <a:srgbClr val="1A1D24"/>
                          </a:solidFill>
                          <a:latin typeface="Segoe UI"/>
                        </a:rPr>
                        <a:t>150-220 hours</a:t>
                      </a:r>
                    </a:p>
                  </a:txBody>
                  <a:tcPr>
                    <a:solidFill>
                      <a:srgbClr val="FFFFFF"/>
                    </a:solidFill>
                  </a:tcPr>
                </a:tc>
                <a:tc>
                  <a:txBody>
                    <a:bodyPr/>
                    <a:lstStyle/>
                    <a:p>
                      <a:pPr algn="ctr"/>
                      <a:r>
                        <a:rPr sz="1400" b="0">
                          <a:solidFill>
                            <a:srgbClr val="1A1D24"/>
                          </a:solidFill>
                          <a:latin typeface="Segoe UI"/>
                        </a:rPr>
                        <a:t>Everything: main runs, baselines, ablations, failures</a:t>
                      </a:r>
                    </a:p>
                  </a:txBody>
                  <a:tcPr>
                    <a:solidFill>
                      <a:srgbClr val="FFFFFF"/>
                    </a:solidFill>
                  </a:tcPr>
                </a:tc>
              </a:tr>
              <a:tr h="414528">
                <a:tc>
                  <a:txBody>
                    <a:bodyPr/>
                    <a:lstStyle/>
                    <a:p>
                      <a:pPr algn="l"/>
                      <a:r>
                        <a:rPr sz="1400" b="0">
                          <a:solidFill>
                            <a:srgbClr val="1A1D24"/>
                          </a:solidFill>
                          <a:latin typeface="Segoe UI"/>
                        </a:rPr>
                        <a:t>On a cheap cloud GPU (T4, spot)</a:t>
                      </a:r>
                    </a:p>
                  </a:txBody>
                  <a:tcPr>
                    <a:solidFill>
                      <a:srgbClr val="F2F5F9"/>
                    </a:solidFill>
                  </a:tcPr>
                </a:tc>
                <a:tc>
                  <a:txBody>
                    <a:bodyPr/>
                    <a:lstStyle/>
                    <a:p>
                      <a:pPr algn="ctr"/>
                      <a:r>
                        <a:rPr sz="1400" b="0">
                          <a:solidFill>
                            <a:srgbClr val="1A1D24"/>
                          </a:solidFill>
                          <a:latin typeface="Segoe UI"/>
                        </a:rPr>
                        <a:t>$25 - $35</a:t>
                      </a:r>
                    </a:p>
                  </a:txBody>
                  <a:tcPr>
                    <a:solidFill>
                      <a:srgbClr val="F2F5F9"/>
                    </a:solidFill>
                  </a:tcPr>
                </a:tc>
                <a:tc>
                  <a:txBody>
                    <a:bodyPr/>
                    <a:lstStyle/>
                    <a:p>
                      <a:pPr algn="ctr"/>
                      <a:r>
                        <a:rPr sz="1400" b="0">
                          <a:solidFill>
                            <a:srgbClr val="1A1D24"/>
                          </a:solidFill>
                          <a:latin typeface="Segoe UI"/>
                        </a:rPr>
                        <a:t>Fits in 16 GB; no A100 needed</a:t>
                      </a:r>
                    </a:p>
                  </a:txBody>
                  <a:tcPr>
                    <a:solidFill>
                      <a:srgbClr val="F2F5F9"/>
                    </a:solidFill>
                  </a:tcPr>
                </a:tc>
              </a:tr>
              <a:tr h="414528">
                <a:tc>
                  <a:txBody>
                    <a:bodyPr/>
                    <a:lstStyle/>
                    <a:p>
                      <a:pPr algn="l"/>
                      <a:r>
                        <a:rPr sz="1400" b="0">
                          <a:solidFill>
                            <a:srgbClr val="1A1D24"/>
                          </a:solidFill>
                          <a:latin typeface="Segoe UI"/>
                        </a:rPr>
                        <a:t>On a cheap cloud GPU (T4, on-demand)</a:t>
                      </a:r>
                    </a:p>
                  </a:txBody>
                  <a:tcPr>
                    <a:solidFill>
                      <a:srgbClr val="FFFFFF"/>
                    </a:solidFill>
                  </a:tcPr>
                </a:tc>
                <a:tc>
                  <a:txBody>
                    <a:bodyPr/>
                    <a:lstStyle/>
                    <a:p>
                      <a:pPr algn="ctr"/>
                      <a:r>
                        <a:rPr sz="1400" b="0">
                          <a:solidFill>
                            <a:srgbClr val="1A1D24"/>
                          </a:solidFill>
                          <a:latin typeface="Segoe UI"/>
                        </a:rPr>
                        <a:t>$85 - $120</a:t>
                      </a:r>
                    </a:p>
                  </a:txBody>
                  <a:tcPr>
                    <a:solidFill>
                      <a:srgbClr val="FFFFFF"/>
                    </a:solidFill>
                  </a:tcPr>
                </a:tc>
                <a:tc>
                  <a:txBody>
                    <a:bodyPr/>
                    <a:lstStyle/>
                    <a:p>
                      <a:pPr algn="ctr"/>
                      <a:r>
                        <a:rPr sz="1400" b="0">
                          <a:solidFill>
                            <a:srgbClr val="1A1D24"/>
                          </a:solidFill>
                          <a:latin typeface="Segoe UI"/>
                        </a:rPr>
                        <a:t>Safer, no eviction</a:t>
                      </a:r>
                    </a:p>
                  </a:txBody>
                  <a:tcPr>
                    <a:solidFill>
                      <a:srgbClr val="FFFFFF"/>
                    </a:solidFill>
                  </a:tcPr>
                </a:tc>
              </a:tr>
              <a:tr h="414528">
                <a:tc>
                  <a:txBody>
                    <a:bodyPr/>
                    <a:lstStyle/>
                    <a:p>
                      <a:pPr algn="l"/>
                      <a:r>
                        <a:rPr sz="1400" b="0">
                          <a:solidFill>
                            <a:srgbClr val="1A1D24"/>
                          </a:solidFill>
                          <a:latin typeface="Segoe UI"/>
                        </a:rPr>
                        <a:t>API credits</a:t>
                      </a:r>
                    </a:p>
                  </a:txBody>
                  <a:tcPr>
                    <a:solidFill>
                      <a:srgbClr val="F2F5F9"/>
                    </a:solidFill>
                  </a:tcPr>
                </a:tc>
                <a:tc>
                  <a:txBody>
                    <a:bodyPr/>
                    <a:lstStyle/>
                    <a:p>
                      <a:pPr algn="ctr"/>
                      <a:r>
                        <a:rPr sz="1400" b="0">
                          <a:solidFill>
                            <a:srgbClr val="1A1D24"/>
                          </a:solidFill>
                          <a:latin typeface="Segoe UI"/>
                        </a:rPr>
                        <a:t>$0 - $25</a:t>
                      </a:r>
                    </a:p>
                  </a:txBody>
                  <a:tcPr>
                    <a:solidFill>
                      <a:srgbClr val="F2F5F9"/>
                    </a:solidFill>
                  </a:tcPr>
                </a:tc>
                <a:tc>
                  <a:txBody>
                    <a:bodyPr/>
                    <a:lstStyle/>
                    <a:p>
                      <a:pPr algn="ctr"/>
                      <a:r>
                        <a:rPr sz="1400" b="0">
                          <a:solidFill>
                            <a:srgbClr val="1A1D24"/>
                          </a:solidFill>
                          <a:latin typeface="Segoe UI"/>
                        </a:rPr>
                        <a:t>Paraphrasing and rule-based data are local and free</a:t>
                      </a:r>
                    </a:p>
                  </a:txBody>
                  <a:tcPr>
                    <a:solidFill>
                      <a:srgbClr val="F2F5F9"/>
                    </a:solidFill>
                  </a:tcPr>
                </a:tc>
              </a:tr>
              <a:tr h="414528">
                <a:tc>
                  <a:txBody>
                    <a:bodyPr/>
                    <a:lstStyle/>
                    <a:p>
                      <a:pPr algn="l"/>
                      <a:r>
                        <a:rPr sz="1400" b="0">
                          <a:solidFill>
                            <a:srgbClr val="1A1D24"/>
                          </a:solidFill>
                          <a:latin typeface="Segoe UI"/>
                        </a:rPr>
                        <a:t>Free option</a:t>
                      </a:r>
                    </a:p>
                  </a:txBody>
                  <a:tcPr>
                    <a:solidFill>
                      <a:srgbClr val="FFFFFF"/>
                    </a:solidFill>
                  </a:tcPr>
                </a:tc>
                <a:tc>
                  <a:txBody>
                    <a:bodyPr/>
                    <a:lstStyle/>
                    <a:p>
                      <a:pPr algn="ctr"/>
                      <a:r>
                        <a:rPr sz="1400" b="0">
                          <a:solidFill>
                            <a:srgbClr val="1A1D24"/>
                          </a:solidFill>
                          <a:latin typeface="Segoe UI"/>
                        </a:rPr>
                        <a:t>$0</a:t>
                      </a:r>
                    </a:p>
                  </a:txBody>
                  <a:tcPr>
                    <a:solidFill>
                      <a:srgbClr val="FFFFFF"/>
                    </a:solidFill>
                  </a:tcPr>
                </a:tc>
                <a:tc>
                  <a:txBody>
                    <a:bodyPr/>
                    <a:lstStyle/>
                    <a:p>
                      <a:pPr algn="ctr"/>
                      <a:r>
                        <a:rPr sz="1400" b="0">
                          <a:solidFill>
                            <a:srgbClr val="1A1D24"/>
                          </a:solidFill>
                          <a:latin typeface="Segoe UI"/>
                        </a:rPr>
                        <a:t>UMass Unity, or Azure for Students (~$100)</a:t>
                      </a:r>
                    </a:p>
                  </a:txBody>
                  <a:tcPr>
                    <a:solidFill>
                      <a:srgbClr val="FFFFFF"/>
                    </a:solidFill>
                  </a:tcPr>
                </a:tc>
              </a:tr>
            </a:tbl>
          </a:graphicData>
        </a:graphic>
      </p:graphicFrame>
      <p:sp>
        <p:nvSpPr>
          <p:cNvPr id="5" name="TextBox 4"/>
          <p:cNvSpPr txBox="1"/>
          <p:nvPr/>
        </p:nvSpPr>
        <p:spPr>
          <a:xfrm>
            <a:off x="640080" y="3904488"/>
            <a:ext cx="10881360" cy="91440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Money is not the constraint — GPU access and our own time are. Note: Azure gives you ZERO GPU quota by default and approval can take a day, so request it first.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640080"/>
          </a:xfrm>
          <a:prstGeom prst="rect">
            <a:avLst/>
          </a:prstGeom>
          <a:noFill/>
        </p:spPr>
        <p:txBody>
          <a:bodyPr wrap="square">
            <a:spAutoFit/>
          </a:bodyPr>
          <a:lstStyle/>
          <a:p>
            <a:pPr algn="l">
              <a:lnSpc>
                <a:spcPct val="115000"/>
              </a:lnSpc>
              <a:spcAft>
                <a:spcPts val="600"/>
              </a:spcAft>
            </a:pPr>
            <a:r>
              <a:rPr sz="2800" b="1">
                <a:solidFill>
                  <a:srgbClr val="1A1D24"/>
                </a:solidFill>
                <a:latin typeface="Segoe UI"/>
              </a:rPr>
              <a:t>What I need from the room</a:t>
            </a:r>
          </a:p>
        </p:txBody>
      </p:sp>
      <p:sp>
        <p:nvSpPr>
          <p:cNvPr id="3" name="Rectangle 2"/>
          <p:cNvSpPr/>
          <p:nvPr/>
        </p:nvSpPr>
        <p:spPr>
          <a:xfrm>
            <a:off x="640080" y="1051560"/>
            <a:ext cx="1463040" cy="38100"/>
          </a:xfrm>
          <a:prstGeom prst="rect">
            <a:avLst/>
          </a:prstGeom>
          <a:solidFill>
            <a:srgbClr val="1F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789920" cy="4297680"/>
          </a:xfrm>
          <a:prstGeom prst="rect">
            <a:avLst/>
          </a:prstGeom>
          <a:noFill/>
        </p:spPr>
        <p:txBody>
          <a:bodyPr wrap="square">
            <a:spAutoFit/>
          </a:bodyPr>
          <a:lstStyle/>
          <a:p>
            <a:pPr algn="l">
              <a:lnSpc>
                <a:spcPct val="115000"/>
              </a:lnSpc>
              <a:spcAft>
                <a:spcPts val="1000"/>
              </a:spcAft>
            </a:pPr>
            <a:r>
              <a:rPr sz="1800" b="0">
                <a:solidFill>
                  <a:srgbClr val="1A1D24"/>
                </a:solidFill>
                <a:latin typeface="Segoe UI"/>
              </a:rPr>
              <a:t>1.  Do we restart training from scratch with the bigger encoder? (My view: yes — the old checkpoints are invalid anyway because of the sentence-length bug.)</a:t>
            </a:r>
          </a:p>
          <a:p>
            <a:pPr algn="l">
              <a:lnSpc>
                <a:spcPct val="115000"/>
              </a:lnSpc>
              <a:spcAft>
                <a:spcPts val="1000"/>
              </a:spcAft>
            </a:pPr>
          </a:p>
          <a:p>
            <a:pPr algn="l">
              <a:lnSpc>
                <a:spcPct val="115000"/>
              </a:lnSpc>
              <a:spcAft>
                <a:spcPts val="1000"/>
              </a:spcAft>
            </a:pPr>
            <a:r>
              <a:rPr sz="1800" b="0">
                <a:solidFill>
                  <a:srgbClr val="1A1D24"/>
                </a:solidFill>
                <a:latin typeface="Segoe UI"/>
              </a:rPr>
              <a:t>2.  Do we keep MSR sentences, or move to a real long-conversation benchmark (LOCOMO / LongMemEval) for the memory story?</a:t>
            </a:r>
          </a:p>
          <a:p>
            <a:pPr algn="l">
              <a:lnSpc>
                <a:spcPct val="115000"/>
              </a:lnSpc>
              <a:spcAft>
                <a:spcPts val="1000"/>
              </a:spcAft>
            </a:pPr>
          </a:p>
          <a:p>
            <a:pPr algn="l">
              <a:lnSpc>
                <a:spcPct val="115000"/>
              </a:lnSpc>
              <a:spcAft>
                <a:spcPts val="1000"/>
              </a:spcAft>
            </a:pPr>
            <a:r>
              <a:rPr sz="1800" b="0">
                <a:solidFill>
                  <a:srgbClr val="1A1D24"/>
                </a:solidFill>
                <a:latin typeface="Segoe UI"/>
              </a:rPr>
              <a:t>3.  Is 'gist-anchored forgetting' a headline experiment or a footnote? (My view: headline — it is the most original thing here.)</a:t>
            </a:r>
          </a:p>
          <a:p>
            <a:pPr algn="l">
              <a:lnSpc>
                <a:spcPct val="115000"/>
              </a:lnSpc>
              <a:spcAft>
                <a:spcPts val="1000"/>
              </a:spcAft>
            </a:pPr>
          </a:p>
          <a:p>
            <a:pPr algn="l">
              <a:lnSpc>
                <a:spcPct val="115000"/>
              </a:lnSpc>
              <a:spcAft>
                <a:spcPts val="1000"/>
              </a:spcAft>
            </a:pPr>
            <a:r>
              <a:rPr sz="1800" b="0">
                <a:solidFill>
                  <a:srgbClr val="1A1D24"/>
                </a:solidFill>
                <a:latin typeface="Segoe UI"/>
              </a:rPr>
              <a:t>4.  Who takes which workstream? Data + metrics, model, diffusion, and downstream QA can all proceed in parallel.</a:t>
            </a:r>
          </a:p>
          <a:p>
            <a:pPr algn="l">
              <a:lnSpc>
                <a:spcPct val="115000"/>
              </a:lnSpc>
              <a:spcAft>
                <a:spcPts val="1000"/>
              </a:spcAft>
            </a:pPr>
          </a:p>
          <a:p>
            <a:pPr algn="l">
              <a:lnSpc>
                <a:spcPct val="115000"/>
              </a:lnSpc>
              <a:spcAft>
                <a:spcPts val="1000"/>
              </a:spcAft>
            </a:pPr>
            <a:r>
              <a:rPr sz="1800" b="0">
                <a:solidFill>
                  <a:srgbClr val="1A1D24"/>
                </a:solidFill>
                <a:latin typeface="Segoe UI"/>
              </a:rPr>
              <a:t>5.  Do we have GPU access sorted — Unity, Azure credits, or do we pay?</a:t>
            </a:r>
          </a:p>
        </p:txBody>
      </p:sp>
      <p:sp>
        <p:nvSpPr>
          <p:cNvPr id="5" name="TextBox 4"/>
          <p:cNvSpPr txBox="1"/>
          <p:nvPr/>
        </p:nvSpPr>
        <p:spPr>
          <a:xfrm>
            <a:off x="685800" y="5806440"/>
            <a:ext cx="10789920" cy="731520"/>
          </a:xfrm>
          <a:prstGeom prst="rect">
            <a:avLst/>
          </a:prstGeom>
          <a:noFill/>
        </p:spPr>
        <p:txBody>
          <a:bodyPr wrap="square">
            <a:spAutoFit/>
          </a:bodyPr>
          <a:lstStyle/>
          <a:p>
            <a:pPr algn="l">
              <a:lnSpc>
                <a:spcPct val="115000"/>
              </a:lnSpc>
              <a:spcAft>
                <a:spcPts val="600"/>
              </a:spcAft>
            </a:pPr>
            <a:r>
              <a:rPr sz="1500" b="0">
                <a:solidFill>
                  <a:srgbClr val="5F6B7A"/>
                </a:solidFill>
                <a:latin typeface="Segoe UI"/>
              </a:rPr>
              <a:t>Full technical detail, including all 16 defects and the reasoning behind every change, is in RESEARCH_PLAN.md in the repo.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011680"/>
            <a:ext cx="12191695" cy="2194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457200"/>
          </a:xfrm>
          <a:prstGeom prst="rect">
            <a:avLst/>
          </a:prstGeom>
          <a:noFill/>
        </p:spPr>
        <p:txBody>
          <a:bodyPr wrap="square">
            <a:spAutoFit/>
          </a:bodyPr>
          <a:lstStyle/>
          <a:p>
            <a:pPr algn="l">
              <a:lnSpc>
                <a:spcPct val="115000"/>
              </a:lnSpc>
              <a:spcAft>
                <a:spcPts val="600"/>
              </a:spcAft>
            </a:pPr>
            <a:r>
              <a:rPr sz="1500" b="1">
                <a:solidFill>
                  <a:srgbClr val="1F6FD4"/>
                </a:solidFill>
                <a:latin typeface="Segoe UI"/>
              </a:rPr>
              <a:t>WHERE WE ARE</a:t>
            </a:r>
          </a:p>
        </p:txBody>
      </p:sp>
      <p:sp>
        <p:nvSpPr>
          <p:cNvPr id="4" name="TextBox 3"/>
          <p:cNvSpPr txBox="1"/>
          <p:nvPr/>
        </p:nvSpPr>
        <p:spPr>
          <a:xfrm>
            <a:off x="822960" y="2697480"/>
            <a:ext cx="10515600" cy="1463040"/>
          </a:xfrm>
          <a:prstGeom prst="rect">
            <a:avLst/>
          </a:prstGeom>
          <a:noFill/>
        </p:spPr>
        <p:txBody>
          <a:bodyPr wrap="square">
            <a:spAutoFit/>
          </a:bodyPr>
          <a:lstStyle/>
          <a:p>
            <a:pPr algn="l">
              <a:lnSpc>
                <a:spcPct val="115000"/>
              </a:lnSpc>
              <a:spcAft>
                <a:spcPts val="600"/>
              </a:spcAft>
            </a:pPr>
            <a:r>
              <a:rPr sz="2600" b="1">
                <a:solidFill>
                  <a:srgbClr val="1A1D24"/>
                </a:solidFill>
                <a:latin typeface="Segoe UI"/>
              </a:rPr>
              <a:t>The pipeline is rebuilt, tested and runnable.</a:t>
            </a:r>
          </a:p>
          <a:p>
            <a:pPr algn="l">
              <a:lnSpc>
                <a:spcPct val="115000"/>
              </a:lnSpc>
              <a:spcAft>
                <a:spcPts val="600"/>
              </a:spcAft>
            </a:pPr>
            <a:r>
              <a:rPr sz="2600" b="1">
                <a:solidFill>
                  <a:srgbClr val="1A1D24"/>
                </a:solidFill>
                <a:latin typeface="Segoe UI"/>
              </a:rPr>
              <a:t>The data says the problem is ours to fix, not the data's.</a:t>
            </a:r>
          </a:p>
        </p:txBody>
      </p:sp>
      <p:sp>
        <p:nvSpPr>
          <p:cNvPr id="5" name="TextBox 4"/>
          <p:cNvSpPr txBox="1"/>
          <p:nvPr/>
        </p:nvSpPr>
        <p:spPr>
          <a:xfrm>
            <a:off x="822960" y="4572000"/>
            <a:ext cx="10515600" cy="1463040"/>
          </a:xfrm>
          <a:prstGeom prst="rect">
            <a:avLst/>
          </a:prstGeom>
          <a:noFill/>
        </p:spPr>
        <p:txBody>
          <a:bodyPr wrap="square">
            <a:spAutoFit/>
          </a:bodyPr>
          <a:lstStyle/>
          <a:p>
            <a:pPr algn="l">
              <a:lnSpc>
                <a:spcPct val="115000"/>
              </a:lnSpc>
              <a:spcAft>
                <a:spcPts val="800"/>
              </a:spcAft>
            </a:pPr>
            <a:r>
              <a:rPr sz="1800" b="0">
                <a:solidFill>
                  <a:srgbClr val="5F6B7A"/>
                </a:solidFill>
                <a:latin typeface="Segoe UI"/>
              </a:rPr>
              <a:t>Next: Gate 0 (10 min) → Gate 2 baseline (1 h) → train.</a:t>
            </a:r>
          </a:p>
          <a:p>
            <a:pPr algn="l">
              <a:lnSpc>
                <a:spcPct val="115000"/>
              </a:lnSpc>
              <a:spcAft>
                <a:spcPts val="800"/>
              </a:spcAft>
            </a:pPr>
            <a:r>
              <a:rPr sz="1800" b="0">
                <a:solidFill>
                  <a:srgbClr val="5F6B7A"/>
                </a:solidFill>
                <a:latin typeface="Segoe UI"/>
              </a:rPr>
              <a:t>Everything else is already written and waiting for a GPU.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